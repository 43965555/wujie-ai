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365760" cy="0"/>
          </a:xfrm>
          <a:prstGeom prst="line">
            <a:avLst/>
          </a:prstGeom>
          <a:ln w="2540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012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Inter"/>
              </a:rPr>
              <a:t>WUJIE AI  ·  无界智源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2026 ENTERPRISE BRIEF  ·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>
                <a:latin typeface="Microsoft YaHei"/>
                <a:gradFill>
                  <gsLst>
                    <gs pos="0">
                      <srgbClr val="D4B896"/>
                    </gs>
                    <gs pos="50000">
                      <srgbClr val="B8956A"/>
                    </gs>
                    <gs pos="100000">
                      <srgbClr val="D4B896"/>
                    </gs>
                  </gsLst>
                  <lin ang="2700000" scaled="0"/>
                </a:gradFill>
              </a:rPr>
              <a:t>AI 获客 × AI 营销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latin typeface="Microsoft YaHei"/>
                <a:gradFill>
                  <gsLst>
                    <gs pos="0">
                      <srgbClr val="D4B896"/>
                    </gs>
                    <gs pos="50000">
                      <srgbClr val="B8956A"/>
                    </gs>
                    <gs pos="100000">
                      <srgbClr val="D4B896"/>
                    </gs>
                  </gsLst>
                  <lin ang="2700000" scaled="0"/>
                </a:gradFill>
              </a:rPr>
              <a:t>2026 全栈方案总结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5F1E8"/>
                </a:solidFill>
                <a:latin typeface="Microsoft YaHei"/>
              </a:rPr>
              <a:t>——  从 CAC 失控到 ROI 闭环：把 9 类 AI 能力拧成一根增长杠杆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09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Inter"/>
              </a:rPr>
              <a:t>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4709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B2B 出海 / 跨境电商 / 高客单价消费品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932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Inter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50932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投放 · 素材 · 短视频 · 直播 · 外呼 · GEO · 归因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772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Inter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47725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CAC ↓ 30–50%   ·   ROI ↑ 1.8–3.2×   ·   产能 ↑ 5–10×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263640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Presented by  无界智源 AI 工程团队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55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2026.07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PAIN DIAGNOSIS  ·  痛点诊断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2026 获客营销六大真实痛点  —  我们用数据说话，不讲故事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传统营销工具链正在系统性失效，问题不是『不够努力』，是底层规则变了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77240" y="2130552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240279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跨境卖家 ROI 卡在 1.2 生死线
广告费越烧越多，订单越来越难拿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7871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跨境营销白皮书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965960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498848" y="2130552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98848" y="2240279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926080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B2B MQL 最终没变成 SQL
市场合格线索被销售直接打回票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547871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B2B 行业基准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965960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0456" y="2130552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0456" y="2240279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926080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AI 外呼高频封号率
单客触达成本超 ¥8，人员流失率 60%+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547871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智能外呼合规报告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05072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77240" y="4169663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2793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651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平台广告投放成本三年涨 200%
3C 爆品生命周期从『3 月』缩到『1 月』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86983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跨境选品报告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4005072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98848" y="4169663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98848" y="42793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9651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AI 项目从 POC 走到生产的比例
95% 企业卡在 Demo，未产生业务价值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5586983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AI Agent 落地报告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4005072"/>
            <a:ext cx="3630168" cy="1874519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220456" y="4169663"/>
            <a:ext cx="45720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0456" y="42793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D4B896"/>
                </a:solidFill>
                <a:latin typeface="Inter"/>
              </a:rPr>
              <a:t>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4965192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传统大词搜索流量转化率
长尾词 8.5%，但 50% 企业不会挖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5586983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E685C"/>
                </a:solidFill>
                <a:latin typeface="Inter"/>
              </a:rPr>
              <a:t>Source · 2026 B2B 数字营销指南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199632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共同病根：流量成本结构性上涨 × 人工产能天花板 × 归因黑箱 × AI 落地鸿沟。单点优化已失效，需要全栈重构。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AI ADOPTION GAP  ·  落地鸿沟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落地鸿沟  —  为什么 95% 的企业『用了 AI 也没用』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买模型 ≠ 用模型 ≠ 跑通业务。绝大多数企业卡在前两步，根本没走到『可度量结果』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AI 落地 5 阶段转化漏斗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16712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买 API / 开账号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Inter"/>
              </a:rP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38658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E685C"/>
                </a:solidFill>
                <a:latin typeface="Microsoft YaHei"/>
              </a:rPr>
              <a:t>全员都做了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15768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2549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2825496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跑 Demo /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82549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Inter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044951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E685C"/>
                </a:solidFill>
                <a:latin typeface="Microsoft YaHei"/>
              </a:rPr>
              <a:t>技术部交差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74136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8386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48386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进生产 / 接业务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4838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Inter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703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E685C"/>
                </a:solidFill>
                <a:latin typeface="Microsoft YaHei"/>
              </a:rPr>
              <a:t>卡在工程化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32504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4223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414223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可度量业务结果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39" y="41422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Inter"/>
              </a:rP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19" y="43616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E685C"/>
                </a:solidFill>
                <a:latin typeface="Microsoft YaHei"/>
              </a:rPr>
              <a:t>卡在归因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90872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480060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Microsoft YaHei"/>
              </a:rPr>
              <a:t>规模化 / 复制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9" y="48006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Inter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0200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E685C"/>
                </a:solidFill>
                <a:latin typeface="Microsoft YaHei"/>
              </a:rPr>
              <a:t>卡在组织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三道鸿沟  —  我们要解决的就是这三道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057400"/>
            <a:ext cx="5532120" cy="1188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2219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956A"/>
                </a:solidFill>
                <a:latin typeface="Inter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2402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工程化鸿沟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560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Demo 跑通 ≠ 生产稳定。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862072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延迟、并发、容错、监控、灰度、回滚、成本核算 —— 95% 团队在这里放弃。我们用 MLOps 把这条鸿沟填平。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355848"/>
            <a:ext cx="5532120" cy="1188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520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956A"/>
                </a:solidFill>
                <a:latin typeface="Inter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53872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业务鸿沟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858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技术指标 ≠ 业务结果。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16052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F1 95% 不等于 CAC 下降。需要从『模型分』映射到『ROI / GMV / 线索质量』，建立可归因的闭环。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654296"/>
            <a:ext cx="5532120" cy="1188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956A"/>
                </a:solidFill>
                <a:latin typeface="Inter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483717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组织鸿沟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157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工具到位 ≠ 流程到位。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458968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市场、销售、客服、运营的协同链路不改，AI 就是孤岛。需要重新设计 SLA、KPI、数据流。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SOLUTION OVERVIEW  ·  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九大 AI 能力矩阵  —  覆盖获客、转化、留存全链路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不是单点工具堆叠，而是『数据 → 决策 → 内容 → 触达 → 归因』的端到端闭环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08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313432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2377439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智能投放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24912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Meta Advantage+ · Google PMax · TikTok Smart+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解决跨境 ROI 1.2 生死线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874519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0208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71416" y="2313432"/>
            <a:ext cx="320039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71416" y="2377439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GEO 搜索优化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724912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DeepSeek · 豆包 · Kimi · Perplexity · 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935224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抢占生成式搜索第一入口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874519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0208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3024" y="2313432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3024" y="2377439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视频生成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724912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可灵 3.0 Pro · Seedance 2.0 极限版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935224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素材产能 ↑ 10×，成本 ↓ 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82696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4290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3721608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3785615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广告素材工厂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133087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GPT-Image-2 · GPT-5.6 · Claude Opus 4.8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343400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一句话出海报 / 详情页 / 短视频脚本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0248" y="3282696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34290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71416" y="3721608"/>
            <a:ext cx="320039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71416" y="3785615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外呼 / 电销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4133087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合规线路 · 智能话术 · 全链路质检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4343400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单客触达 ¥8 → ¥0.8，封号率 25% → 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3282696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4" y="34290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93024" y="3721608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93024" y="3785615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数字人直播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4133087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24h 不间断 · 多机位 · 凌晨长尾覆盖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4343400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GMV 翻 3×，人力成本 ↓ 80%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690872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8371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07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9808" y="5129783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9808" y="5193792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短视频矩阵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541264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多账号 · 多平台 · 工业化产能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751576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解决产能 / 质量 / 创意 / 效率 4 大痛点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70248" y="4690872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1416" y="48371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08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471416" y="5129783"/>
            <a:ext cx="320039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471416" y="5193792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个性化 + CDP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1416" y="5541264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实时画像 · 意向打分 · 动态创意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1416" y="5751576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MQL→SQL 流失率 90% → 35%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91856" y="4690872"/>
            <a:ext cx="3630168" cy="1298448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3024" y="48371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09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193024" y="5129783"/>
            <a:ext cx="320040" cy="0"/>
          </a:xfrm>
          <a:prstGeom prst="line">
            <a:avLst/>
          </a:prstGeom>
          <a:ln w="1524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93024" y="5193792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AI 归因闭环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3024" y="5541264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MTA + MMM + Incrementality Testing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3024" y="5751576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→ 把『黑箱预算』变成『可解释 ROI』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6199632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9 大能力不是 9 个工具，而是 1 套数据底座 + 9 个执行臂。底座打通，臂才能协同。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01  ·  AI 智能投放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智能投放  —  让跨境 ROI 从 1.2 爬到 2.8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5A4A"/>
                </a:solidFill>
                <a:latin typeface="Microsoft YaHei"/>
              </a:rPr>
              <a:t>▎ 真实痛点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70% 跨境卖家 ROI 卡在 1.2 生死线，烧越多亏越多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平台广告投放成本 3 年涨 200%，3C 品生命周期从 3 月缩到 1 月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Meta / Google 账户审核趋严，2026 出现『封号潮』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新账户启动周期变长，同样的素材效果差距越来越大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Cookie 退场后归因失真，50% 企业算不清 MQL→SQL 转化率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F5F1E8"/>
                </a:solidFill>
                <a:latin typeface="Microsoft YaHei"/>
              </a:rPr>
              <a:t>• 多渠道并行（短视频/商店/线下/微信/KOL/短信）归因成黑箱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A9A78"/>
                </a:solidFill>
                <a:latin typeface="Microsoft YaHei"/>
              </a:rPr>
              <a:t>▎ 方案架构  —  三层闭环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决策层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D4B896"/>
                </a:solidFill>
                <a:latin typeface="Microsoft YaHei"/>
              </a:rPr>
              <a:t>AI Bid Optimizer  ·  跨平台预算分配  ·  动态出价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执行层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79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Meta Advantage+  ·  Google PMax  ·  TikTok Smart+  ·  百度/腾讯/快手智能投放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1480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数据层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CDP + 归因引擎（MTA + MMM + Incrementality）+ 创意素材库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▎ 实测结果（赛维时代同款打法）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406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5099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D4B896"/>
                </a:solidFill>
                <a:latin typeface="Inter"/>
              </a:rPr>
              <a:t>1.2 → 2.8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03504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↑ 133%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4406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65099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D4B896"/>
                </a:solidFill>
                <a:latin typeface="Inter"/>
              </a:rPr>
              <a:t>↓ 38%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603504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同口径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4406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人效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65099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D4B896"/>
                </a:solidFill>
                <a:latin typeface="Inter"/>
              </a:rPr>
              <a:t>↑ 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03504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省 2 个投手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02  ·  AI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GEO  —  抢占生成式搜索第一入口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传统 SEO 正在被 GEO（Generative Engine Optimization）取代。用户不再点击蓝链，而是直接问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5A4A"/>
                </a:solidFill>
                <a:latin typeface="Microsoft YaHei"/>
              </a:rPr>
              <a:t>▎ 流量入口迁移  —  谁在抢走你的搜索流量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5029200" cy="347472"/>
          </a:xfrm>
          <a:prstGeom prst="roundRect">
            <a:avLst>
              <a:gd name="adj" fmla="val 15000"/>
            </a:avLst>
          </a:prstGeom>
          <a:solidFill>
            <a:srgbClr val="22222A"/>
          </a:solidFill>
          <a:ln w="381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DeepSeek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95727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国内 ToB / 技术决策者首选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5029200" cy="347472"/>
          </a:xfrm>
          <a:prstGeom prst="roundRect">
            <a:avLst>
              <a:gd name="adj" fmla="val 15000"/>
            </a:avLst>
          </a:prstGeom>
          <a:solidFill>
            <a:srgbClr val="22222A"/>
          </a:solidFill>
          <a:ln w="381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072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豆包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0720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字节系 C 端 + 抖音电商入口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54679"/>
            <a:ext cx="5029200" cy="347472"/>
          </a:xfrm>
          <a:prstGeom prst="roundRect">
            <a:avLst>
              <a:gd name="adj" fmla="val 15000"/>
            </a:avLst>
          </a:prstGeom>
          <a:solidFill>
            <a:srgbClr val="22222A"/>
          </a:solidFill>
          <a:ln w="381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18687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Kimi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218687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长文本 / 学术 / 专业研究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66160"/>
            <a:ext cx="5029200" cy="347472"/>
          </a:xfrm>
          <a:prstGeom prst="roundRect">
            <a:avLst>
              <a:gd name="adj" fmla="val 15000"/>
            </a:avLst>
          </a:prstGeom>
          <a:solidFill>
            <a:srgbClr val="22222A"/>
          </a:solidFill>
          <a:ln w="381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301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ChatGPT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63016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海外企业决策者高频使用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77639"/>
            <a:ext cx="5029200" cy="347472"/>
          </a:xfrm>
          <a:prstGeom prst="roundRect">
            <a:avLst>
              <a:gd name="adj" fmla="val 15000"/>
            </a:avLst>
          </a:prstGeom>
          <a:solidFill>
            <a:srgbClr val="22222A"/>
          </a:solidFill>
          <a:ln w="381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416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Inter"/>
              </a:rPr>
              <a:t>Perplexity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0416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海外高净值用户 / 投资人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→ 同一个用户，在不同 AI 用不同问法。你的内容必须在所有 AI 上『被引用』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关键基准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大词搜索流量转化率 0.3%   ·   长尾词 8.5%（差 28×）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GEO 优化后 AI 引用率提升 3-5×，品牌词召回率 ↑ 60%+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A9A78"/>
                </a:solidFill>
                <a:latin typeface="Microsoft YaHei"/>
              </a:rPr>
              <a:t>▎ GEO 五层方法论  —  让 AI 主动引用你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L1  内容结构化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670048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Schema.org + JSON-LD + 问答对结构，让 LLM 可解析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035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L2  权威性建设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28416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引用源 / 数据 / 案例 / 客户名 / 第三方背书，提升 AI 引用权重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94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L3  多源同步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8678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DeepSeek / 豆包 / Kimi / ChatGPT / Perplexity 多端同步埋点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L4  口径一致性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4515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同一事实在所有渠道口径统一，避免 AI 抓到冲突信息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10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L5  可度量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03520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AI 引用次数 / 品牌词召回率 / AI 引流转化率 三项核心 KPI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852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不是优化给搜索引擎，是优化给『会回答用户的 AI』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03  ·  AI 视频生成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视频生成  —  可灵 3.0 Pro × Seedance 2.0 极限版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2026 三大『导演级视频模型』已就位。我们只用其中商用许可清晰、API 稳定的两款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D4B896"/>
                </a:solidFill>
                <a:latin typeface="Inter"/>
              </a:rPr>
              <a:t>Kling 3.0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快手 · 国内首发 · 物理一致性最强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分辨率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原生 1080p，最高 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272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10s 标准 / 30s 多镜头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11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强项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112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人物动作连贯 · 物理碰撞 · 镜头运动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95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商用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8953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国内商用许可清晰，企业 API 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79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适用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2793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品宣片 · 产品演示 · 短视频开场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价格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63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约 ¥1.5–2 / 秒，规模化可谈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典型场景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电商主图视频 · 跨境品宣 · 工业产品演示。物理真实感强，适合需要『可信度』的 B 端素材。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D4B896"/>
                </a:solidFill>
                <a:latin typeface="Inter"/>
              </a:rPr>
              <a:t>Seedance 2.0 极限版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字节跳动 · 多镜头叙事 · API 亚 10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43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速度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比 1.5 Pro 快 30%，API 亚 10 秒生成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1272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时长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1272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60s 内 2K 输出，原生多镜头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11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强项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5112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多镜头叙事 · 镜头切换 · 角色一致性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95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商用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8953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字节系商用通道，Dreamina / 豆包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79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适用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2793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剧情短视频 · 信息流广告 · 直播预热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价格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663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约 ¥1 / 秒（含视频输入 ¥28/百万 tokens）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典型场景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抖音 / TikTok 信息流广告 · 剧情类短视频 · 直播预热片。镜头语言丰富，适合 C 端拉新。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263640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选型策略：要『可信物理感』选可灵，要『多镜头叙事 + 极速迭代』选 Seedance。两者可组合使用。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04  ·  AI 广告素材工厂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广告素材工厂  —  GPT-Image-2 × GPT-5.6 × Claude Opus 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『一句话出海报、出详情页、出短视频脚本』 ——  GPT-Image-2 让图文一体化成为现实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30168" cy="36576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GPT-Image-2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OpenAI · 2026.04 发布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635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图像生成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核心优势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317296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中文精准渲染（海报级排版）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复杂排版（教材/详情页一页出）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世界知识还原（品牌资产准确）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一句话生成整页内容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8920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9834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适用场景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海报 · 详情页 · 信息图 · 品牌物料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1783080"/>
            <a:ext cx="3630168" cy="36576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1965960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42316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OpenAI · 文本主力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635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7432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文案 / 脚本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1546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核心优势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429000"/>
            <a:ext cx="317296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长上下文（百万 tokens）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多语言文案母语级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短视频脚本结构化输出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多模态理解（图文音一体）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98848" y="48920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98848" y="49834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适用场景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230368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广告文案 · 短视频脚本 · 多语言本地化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1783080"/>
            <a:ext cx="3630168" cy="36576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1965960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Claude Opus 4.8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42316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Anthropic · 文本主力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0456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635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27432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策略 / 长文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1546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核心优势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429000"/>
            <a:ext cx="317296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复杂营销策略推演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长文叙事 / 白皮书撰写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合规审查（广告法 / 平台规则）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结构化输出稳定性强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0456" y="48920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0456" y="49834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适用场景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5230368"/>
            <a:ext cx="3172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营销策略 · 白皮书 · 合规审查 · 长文种草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650992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▎ 端到端 AIGC 内容工厂  —  从需求到上线全链路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需求解析（GPT-5.6） → 创意策略（Claude Opus 4.8） → 图像生成（GPT-Image-2） → 视频生成（可灵 / Seedance） → 合规审查（Claude Opus 4.8） → 多端分发 → 效果归因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单条素材成本 ↓ 80%   ·   日产能 ↑ 10×   ·   创意测试并行度 ↑ 50×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05  ·  AI 外呼 / 电销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外呼 / 电销  —  单客触达 ¥8 → ¥0.8，封号率 25% → 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0292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5A4A"/>
                </a:solidFill>
                <a:latin typeface="Microsoft YaHei"/>
              </a:rPr>
              <a:t>▎ 行业三大核心痛点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4572000" cy="841248"/>
          </a:xfrm>
          <a:prstGeom prst="roundRect">
            <a:avLst>
              <a:gd name="adj" fmla="val 6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单客触达 ¥8+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人工电销单客触达成本超 8 元，含薪资 / 提成 / 培训 / 离职成本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91839"/>
            <a:ext cx="4572000" cy="841248"/>
          </a:xfrm>
          <a:prstGeom prst="roundRect">
            <a:avLst>
              <a:gd name="adj" fmla="val 6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0156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封号率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3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高频外呼封号率 25%，号码被标记推销后接通率断崖式下跌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4572000" cy="841248"/>
          </a:xfrm>
          <a:prstGeom prst="roundRect">
            <a:avLst>
              <a:gd name="adj" fmla="val 6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6168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4B896"/>
                </a:solidFill>
                <a:latin typeface="Microsoft YaHei"/>
              </a:rPr>
              <a:t>流失率 60%+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人工电销离职率高，新人培养 2-3 月才能稳定产出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83080"/>
            <a:ext cx="59436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A9A78"/>
                </a:solidFill>
                <a:latin typeface="Microsoft YaHei"/>
              </a:rPr>
              <a:t>▎ 解决方案  —  合规 + 智能 + 全链路质检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三大合规红线（2026 监管重点）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06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5A4A"/>
                </a:solidFill>
                <a:latin typeface="Microsoft YaHei"/>
              </a:rPr>
              <a:t>▎ 线路合规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白名单线路 · 频次管控 · 实名备案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990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5A4A"/>
                </a:solidFill>
                <a:latin typeface="Microsoft YaHei"/>
              </a:rPr>
              <a:t>▎ 话术合规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9900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AI 话术预审 · 敏感词拦截 · 录音全留痕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374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5A4A"/>
                </a:solidFill>
                <a:latin typeface="Microsoft YaHei"/>
              </a:rPr>
              <a:t>▎ 数据合规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3741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用户授权 · 数据脱敏 · 可追溯销毁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0" y="3886200"/>
            <a:ext cx="5486400" cy="0"/>
          </a:xfrm>
          <a:prstGeom prst="line">
            <a:avLst/>
          </a:prstGeom>
          <a:ln w="508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▎ 智能外呼四大能力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297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日拨 800-1500 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297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线路轮换 + 频次策略 + 智能去标记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681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意向识别 + 转人工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681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LLM 实时对话 · 高意向自动转接销售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0657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话术动态生成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0657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GPT-5.6 根据客户画像实时生成话术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4498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质检 + 复盘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54498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100% 录音转写 · 自动打分 · 异常告警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0" y="5852160"/>
            <a:ext cx="5486400" cy="0"/>
          </a:xfrm>
          <a:prstGeom prst="line">
            <a:avLst/>
          </a:prstGeom>
          <a:ln w="508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实测：单客触达 ¥8 → ¥0.8   ·   封号率 25% → 2%   ·   接通率 ↑ 35%   ·   转化率 ↑ 1.8×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06  ·  AI 数字人直播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数字人直播  —  GMV 翻 3×，人力成本降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2026 全品类落地实测：数字人直播转化率已对标普通真人，标准化品类甚至优于真人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A9A78"/>
                </a:solidFill>
                <a:latin typeface="Microsoft YaHei"/>
              </a:rPr>
              <a:t>▎ 四大落地场景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24h 不间断直播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974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凌晨 1-6 点长尾流量覆盖（占平台总流量 12%）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多机位 + 3D 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747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20+ 虚拟直播间并行 · 品类专属场景定制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真人 + 数字人混合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真人主播接高峰，数字人接平峰 + 长尾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6344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548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多平台同步开播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抖音 / 视频号 / 淘宝 / 快手 多端同步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▎ 解决的真人主播痛点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A8A092"/>
                </a:solidFill>
                <a:latin typeface="Microsoft YaHei"/>
              </a:rPr>
              <a:t>情绪波动 · 临场失误 · 临时请假 · 排班难 · 培养周期长 · 头部主播议价权过高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▎ 实测数据（2026 全品类落地）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37744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871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D4B896"/>
                </a:solidFill>
                <a:latin typeface="Inter"/>
              </a:rPr>
              <a:t>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9718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GMV 提升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82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vs 真人单班次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237744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19" y="24871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D4B896"/>
                </a:solidFill>
                <a:latin typeface="Inter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29718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人力成本下降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19" y="3182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省主播薪资 + 排班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52044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301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D4B896"/>
                </a:solidFill>
                <a:latin typeface="Inter"/>
              </a:rPr>
              <a:t>1%→3%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1148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直播间转化率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25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标准化品类对标真人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352044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19" y="36301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D4B896"/>
                </a:solidFill>
                <a:latin typeface="Inter"/>
              </a:rPr>
              <a:t>200%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41148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日均 GMV 增长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4325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E685C"/>
                </a:solidFill>
                <a:latin typeface="Microsoft YaHei"/>
              </a:rPr>
              <a:t>部分商家实测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37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▎ 合规要点（2026.01 新规）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2026.01《直播电商监督管理办法》：私域直播纳入监管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数字人需显著标识『AI 生成』，不可误导消费者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话术 + 商品描述 + 价格 全程留痕可追溯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07  ·  AI 短视频矩阵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短视频矩阵  —  从『勤奋博弈』升级到『算子博弈』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短视频已从『一键分发』升级为『AI 工业化产能 + 底层合规 + 全链路私域』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5A4A"/>
                </a:solidFill>
                <a:latin typeface="Microsoft YaHei"/>
              </a:rPr>
              <a:t>▎ 创作者与团队的四大核心痛点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743200" cy="9601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508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产能不足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人力投入高、日产能低、单人产出上限固化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03120"/>
            <a:ext cx="2743200" cy="9601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508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质量不均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420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剪辑师水平参差，账号风格难以稳定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743200" cy="9601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508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创意枯竭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420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选题 / 脚本 / 分镜反复同质化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103120"/>
            <a:ext cx="2743200" cy="9601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508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效率低下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420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拍摄 / 剪辑 / 分发 / 数据复盘流程割裂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9A78"/>
                </a:solidFill>
                <a:latin typeface="Microsoft YaHei"/>
              </a:rPr>
              <a:t>▎ AI 矩阵方案架构  —  四层工业化生产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221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选题层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822191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GPT-5.6 热点监控 + 爆款拆解 + 选题打分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822191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D4B896"/>
                </a:solidFill>
                <a:latin typeface="Microsoft YaHei"/>
              </a:rPr>
              <a:t>Claude Opus 4.8 选题策略推演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9768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16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生产层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4165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GPT-Image-2 出图 · 可灵 / Seedance 出视频 · AI 配音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4165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D4B896"/>
                </a:solidFill>
                <a:latin typeface="Microsoft YaHei"/>
              </a:rPr>
              <a:t>单条短视频产能 ↑ 10×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9204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分发层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01091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多账号 · 多平台 · 智能排期 · A/B 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0109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D4B896"/>
                </a:solidFill>
                <a:latin typeface="Microsoft YaHei"/>
              </a:rPr>
              <a:t>矩阵号同步分发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8640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05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数据层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60527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播放 / 互动 / 转化归因 + 私域引流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6052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D4B896"/>
                </a:solidFill>
                <a:latin typeface="Microsoft YaHei"/>
              </a:rPr>
              <a:t>把流量沉淀到私域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199632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4B896"/>
                </a:solidFill>
                <a:latin typeface="Microsoft YaHei"/>
              </a:rPr>
              <a:t>→ 矩阵不是『多开几个号』，是『一套工业流水线 + 一个数据底座 + 一个私域沉淀池』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08  ·  AI 个性化 + CDP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个性化 + CDP  —  MQL→SQL 流失率 90% → 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B2B 痛点：50% 企业算不清 MQL→SQL 转化率。我们用 CDP + AI 意向打分把黑箱打开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▎ 传统漏斗 vs AI 加持漏斗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C85A4A"/>
                </a:solidFill>
                <a:latin typeface="Microsoft YaHei"/>
              </a:rPr>
              <a:t>传统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6A9A78"/>
                </a:solidFill>
                <a:latin typeface="Microsoft YaHei"/>
              </a:rPr>
              <a:t>AI 加持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2606040"/>
            <a:ext cx="5029200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697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线索进入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5A4A"/>
                </a:solidFill>
                <a:latin typeface="Inte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9A78"/>
                </a:solidFill>
                <a:latin typeface="Inter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MQL 市场合格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5A4A"/>
                </a:solidFill>
                <a:latin typeface="Inter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9A78"/>
                </a:solidFill>
                <a:latin typeface="Inter"/>
              </a:rPr>
              <a:t>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SQL 销售合格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5A4A"/>
                </a:solidFill>
                <a:latin typeface="Inter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9A78"/>
                </a:solidFill>
                <a:latin typeface="Inter"/>
              </a:rPr>
              <a:t>23%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931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5A4A"/>
                </a:solidFill>
                <a:latin typeface="Inter"/>
              </a:rPr>
              <a:t>0.5%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931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9A78"/>
                </a:solidFill>
                <a:latin typeface="Inter"/>
              </a:rP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▎ 关键动作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实时画像：行为轨迹 + 意向度判定 + 客户分层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意向打分：GPT-5.6 + Claude Opus 4.8 双模型投票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动态创意：根据客户阶段自动匹配素材 / 话术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销售 SLA：高分线索 5 分钟内自动转销售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B896"/>
                </a:solidFill>
                <a:latin typeface="Microsoft YaHei"/>
              </a:rPr>
              <a:t>▎ CDP 数据底座  —  统一身份 + 全链路追踪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3774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采集层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06624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Web · App · 小程序 · 抖音 · 微信 · 销售 CRM · 客服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35808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身份层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364992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OneID 统一身份 · 跨端跨平台识别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694176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7673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画像层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2336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标签体系 + 行为序列 + 意向度评分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352544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22222A"/>
          </a:solidFill>
          <a:ln w="5080">
            <a:solidFill>
              <a:srgbClr val="6A5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4256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6A"/>
                </a:solidFill>
                <a:latin typeface="Microsoft YaHei"/>
              </a:rPr>
              <a:t>应用层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681728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个性化推荐 · 动态创意 · 销售预警 · 流失挽留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0" y="5074920"/>
            <a:ext cx="5029200" cy="0"/>
          </a:xfrm>
          <a:prstGeom prst="line">
            <a:avLst/>
          </a:prstGeom>
          <a:ln w="508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Microsoft YaHei"/>
              </a:rPr>
              <a:t>▎ 实测提升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4406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• MQL→SQL 流失率：90% → 35%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• 高意向线索 5 分钟响应率：100%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• 销售人均产能：↑ 2.5×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4B896"/>
                </a:solidFill>
                <a:latin typeface="Microsoft YaHei"/>
              </a:rPr>
              <a:t>• 客户复购率：↑ 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CAPABILITY 09  ·  AI 归因闭环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AI 归因闭环  —  把『黑箱预算』变成『可解释 ROI』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Cookie 退场 + 多端触达 + 长决策链 = 传统归因彻底失效。我们需要三套归因模型并行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30168" cy="32004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MTA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Multi-Touch Attribution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517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508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触点级归因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基于用户行为路径，按触点贡献度分配权重（线性 / 时间衰减 / Shapley）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A9A78"/>
                </a:solidFill>
                <a:latin typeface="Microsoft YaHei"/>
              </a:rPr>
              <a:t>✓ 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精细化到每个触点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85A4A"/>
                </a:solidFill>
                <a:latin typeface="Microsoft YaHei"/>
              </a:rPr>
              <a:t>△ 局限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依赖 Cookie，跨端断裂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1783080"/>
            <a:ext cx="3630168" cy="32004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96596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MMM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3774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Marketing Mix Modeling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26517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508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2697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宏观级归因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0632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方法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29184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基于历史聚合数据回归建模，估算各渠道弹性系数 + 增量贡献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1605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A9A78"/>
                </a:solidFill>
                <a:latin typeface="Microsoft YaHei"/>
              </a:rPr>
              <a:t>✓ 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3708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不依赖用户级数据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6177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85A4A"/>
                </a:solidFill>
                <a:latin typeface="Microsoft YaHei"/>
              </a:rPr>
              <a:t>△ 局限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8280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粒度粗，滞后 4-8 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1783080"/>
            <a:ext cx="3630168" cy="320040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196596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B896"/>
                </a:solidFill>
                <a:latin typeface="Inter"/>
              </a:rPr>
              <a:t>Incrementality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23774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A8A092"/>
                </a:solidFill>
                <a:latin typeface="Inter"/>
              </a:rPr>
              <a:t>增量测试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0456" y="26517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508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6" y="2697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Microsoft YaHei"/>
              </a:rPr>
              <a:t>因果级归因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06324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方法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329184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A/B 地域 / 时段 / 人群对照实验，量化真实增量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41605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A9A78"/>
                </a:solidFill>
                <a:latin typeface="Microsoft YaHei"/>
              </a:rPr>
              <a:t>✓ 优势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43708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因果可信，可决策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461772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85A4A"/>
                </a:solidFill>
                <a:latin typeface="Microsoft YaHei"/>
              </a:rPr>
              <a:t>△ 局限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828032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5F1E8"/>
                </a:solidFill>
                <a:latin typeface="Microsoft YaHei"/>
              </a:rPr>
              <a:t>周期长，成本高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4000"/>
            </a:avLst>
          </a:prstGeom>
          <a:solidFill>
            <a:srgbClr val="22222A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03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▎ 三模型融合策略  —  MTA 看精细 + MMM 看宏观 + Incrementality 校准因果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235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5F1E8"/>
                </a:solidFill>
                <a:latin typeface="Microsoft YaHei"/>
              </a:rPr>
              <a:t>MTA 提供触点级精细化数据 → MMM 用宏观数据补全跨端缺口 → Incrementality 用因果实验校准前两者偏差。三者闭环迭代，归因准确率从 40% 提升至 85%+。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"/>
            <a:ext cx="320040" cy="0"/>
          </a:xfrm>
          <a:prstGeom prst="line">
            <a:avLst/>
          </a:prstGeom>
          <a:ln w="190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Inter"/>
              </a:rPr>
              <a:t>ROADMAP  ·  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8A092"/>
                </a:solidFill>
                <a:latin typeface="Microsoft YaHei"/>
              </a:rPr>
              <a:t>无界智源  ·  WUJIE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8956A"/>
                </a:solidFill>
                <a:latin typeface="Inter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987552"/>
            <a:ext cx="228600" cy="0"/>
          </a:xfrm>
          <a:prstGeom prst="line">
            <a:avLst/>
          </a:prstGeom>
          <a:ln w="9525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8A092"/>
                </a:solidFill>
                <a:latin typeface="Microsoft YaHei"/>
              </a:rPr>
              <a:t>30 / 60 / 90 天落地路径  —  从诊断到规模化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1E8"/>
                </a:solidFill>
                <a:latin typeface="Microsoft YaHei"/>
              </a:rPr>
              <a:t>不画饼：每 30 天一个里程碑，每个里程碑都有可度量的业务结果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30168" cy="39319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7620">
            <a:solidFill>
              <a:srgbClr val="C8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C85A4A"/>
                </a:solidFill>
                <a:latin typeface="Inter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Microsoft YaHei"/>
              </a:rPr>
              <a:t>0-30 天  ·  诊断 + Quick Win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8346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260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核心动作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31729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全链路诊断：CAC / ROI / 归因黑箱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数据底座搭建：CDP + OneID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创意工厂 MVP：GPT-Image-2 出海报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外呼试点：1 条线路 + 1000 通/日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6636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2578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可度量结果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D4B896"/>
                </a:solidFill>
                <a:latin typeface="Microsoft YaHei"/>
              </a:rPr>
              <a:t>单条素材成本 ↓ 50%   ·   外呼触达 ¥8 → ¥3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1783080"/>
            <a:ext cx="3630168" cy="39319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762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116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B8956A"/>
                </a:solidFill>
                <a:latin typeface="Inter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37744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Microsoft YaHei"/>
              </a:rPr>
              <a:t>30-60 天  ·  规模化 + 闭环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98848" y="28346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98848" y="29260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核心动作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200400"/>
            <a:ext cx="31729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投放全平台接入：Meta / Google / TikTok / 百度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视频工厂上线：可灵 + Seedance 日产 50 条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数字人直播：3 个直播间 24h 不间断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GEO 优化：5 大 AI 引擎同步埋点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98848" y="516636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98848" y="52578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可度量结果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4864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D4B896"/>
                </a:solidFill>
                <a:latin typeface="Microsoft YaHei"/>
              </a:rPr>
              <a:t>ROI 1.2 → 2.0   ·   日产能 ↑ 5×   ·   GMV ↑ 60%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1783080"/>
            <a:ext cx="3630168" cy="39319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6350">
            <a:solidFill>
              <a:srgbClr val="6A5232"/>
            </a:solidFill>
          </a:ln>
          <a:effectLst>
            <a:outerShdw blurRad="203200" dist="76200" dir="5400000" rotWithShape="0">
              <srgbClr val="000000">
                <alpha val="7530"/>
              </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0456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2222A"/>
          </a:solidFill>
          <a:ln w="7620">
            <a:solidFill>
              <a:srgbClr val="6A9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0116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A9A78"/>
                </a:solidFill>
                <a:latin typeface="Inter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237744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B896"/>
                </a:solidFill>
                <a:latin typeface="Microsoft YaHei"/>
              </a:rPr>
              <a:t>60-90 天  ·  优化 + 复制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0456" y="283464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0456" y="292608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核心动作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200400"/>
            <a:ext cx="31729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三模型归因闭环：MTA + MMM + Incrementality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个性化推荐：MQL→SQL 流失率 90% → 35%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AI 短视频矩阵：50 账号 + 多平台分发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F5F1E8"/>
                </a:solidFill>
                <a:latin typeface="Microsoft YaHei"/>
              </a:rPr>
              <a:t>• 组织协同：市场 / 销售 / 客服 SLA 重新设计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0456" y="5166360"/>
            <a:ext cx="3172968" cy="0"/>
          </a:xfrm>
          <a:prstGeom prst="line">
            <a:avLst/>
          </a:prstGeom>
          <a:ln w="381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0456" y="52578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B8956A"/>
                </a:solidFill>
                <a:latin typeface="Microsoft YaHei"/>
              </a:rPr>
              <a:t>可度量结果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5486400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D4B896"/>
                </a:solidFill>
                <a:latin typeface="Microsoft YaHei"/>
              </a:rPr>
              <a:t>CAC ↓ 38%   ·   ROI 1.2 → 2.8   ·   人效 ↑ 5×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989320"/>
            <a:ext cx="11064240" cy="0"/>
          </a:xfrm>
          <a:prstGeom prst="line">
            <a:avLst/>
          </a:prstGeom>
          <a:ln w="6350">
            <a:solidFill>
              <a:srgbClr val="6A5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4B896"/>
                </a:solidFill>
                <a:latin typeface="Microsoft YaHei"/>
              </a:rPr>
              <a:t>→ 90 天内若未达到任一里程碑指标，下阶段费用全免。我们对结果负责，不是对工时负责。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E685C"/>
                </a:solidFill>
                <a:latin typeface="Inte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