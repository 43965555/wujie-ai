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8956A"/>
                </a:solidFill>
                <a:latin typeface="Arial"/>
                <a:ea typeface="微软雅黑"/>
              </a:rPr>
              <a:t>WUJIE AI  ·  INTELLIGENCE ENGINEERED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463040" cy="1778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无界智源 × AI 获客营销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F7F4EF"/>
                </a:solidFill>
                <a:latin typeface="Arial"/>
                <a:ea typeface="微软雅黑"/>
              </a:rPr>
              <a:t>2026 前沿方案总结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114800"/>
            <a:ext cx="3108960" cy="12700"/>
          </a:xfrm>
          <a:prstGeom prst="rect">
            <a:avLst/>
          </a:prstGeom>
          <a:solidFill>
            <a:srgbClr val="9C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5989320"/>
            <a:ext cx="41148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4B896"/>
                </a:solidFill>
                <a:latin typeface="Arial"/>
                <a:ea typeface="微软雅黑"/>
              </a:rPr>
              <a:t>2026.07  ·  吴杰</a:t>
            </a:r>
          </a:p>
        </p:txBody>
      </p:sp>
      <p:sp>
        <p:nvSpPr>
          <p:cNvPr id="9" name="Diamond 8"/>
          <p:cNvSpPr/>
          <p:nvPr/>
        </p:nvSpPr>
        <p:spPr>
          <a:xfrm>
            <a:off x="9784080" y="4617720"/>
            <a:ext cx="1737360" cy="1737360"/>
          </a:xfrm>
          <a:prstGeom prst="diamond">
            <a:avLst/>
          </a:prstGeom>
          <a:noFill/>
          <a:ln w="15875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10744200" y="5074920"/>
            <a:ext cx="914400" cy="914400"/>
          </a:xfrm>
          <a:prstGeom prst="diamond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55480" y="5989320"/>
            <a:ext cx="292608" cy="292608"/>
          </a:xfrm>
          <a:prstGeom prst="rect">
            <a:avLst/>
          </a:prstGeom>
          <a:solidFill>
            <a:srgbClr val="9C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INDUSTRY PAIN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传统获客的四重困境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05840" cy="2032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035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56232"/>
            <a:ext cx="1097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B8956A"/>
                </a:solidFill>
                <a:latin typeface="Consolas"/>
                <a:ea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20" y="2011680"/>
            <a:ext cx="18288" cy="88900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192024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1A1F"/>
                </a:solidFill>
                <a:latin typeface="Georgia"/>
                <a:ea typeface="微软雅黑"/>
              </a:rPr>
              <a:t>成本失控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468880"/>
            <a:ext cx="3611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传统信息流 CAC 连续 3 年上涨 25%+，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2026 美国社交平台 CPM 集体上涨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1691640"/>
            <a:ext cx="53035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856232"/>
            <a:ext cx="1097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B8956A"/>
                </a:solidFill>
                <a:latin typeface="Consolas"/>
                <a:ea typeface="微软雅黑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62672" y="2011680"/>
            <a:ext cx="18288" cy="88900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91272" y="192024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1A1F"/>
                </a:solidFill>
                <a:latin typeface="Georgia"/>
                <a:ea typeface="微软雅黑"/>
              </a:rPr>
              <a:t>效率瓶颈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1272" y="2468880"/>
            <a:ext cx="3611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人工外呼日均 100-200 通，创意产出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依赖美工，单条素材 &gt;24 小时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53035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96512"/>
            <a:ext cx="1097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B8956A"/>
                </a:solidFill>
                <a:latin typeface="Consolas"/>
                <a:ea typeface="微软雅黑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20" y="4251960"/>
            <a:ext cx="18288" cy="88900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416052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1A1F"/>
                </a:solidFill>
                <a:latin typeface="Georgia"/>
                <a:ea typeface="微软雅黑"/>
              </a:rPr>
              <a:t>内容枯竭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709160"/>
            <a:ext cx="3611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铺货型电商单月需数百张视觉素材，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人工无法满足产能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36792" y="3931920"/>
            <a:ext cx="53035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4096512"/>
            <a:ext cx="1097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B8956A"/>
                </a:solidFill>
                <a:latin typeface="Consolas"/>
                <a:ea typeface="微软雅黑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62672" y="4251960"/>
            <a:ext cx="18288" cy="88900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91272" y="416052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1A1F"/>
                </a:solidFill>
                <a:latin typeface="Georgia"/>
                <a:ea typeface="微软雅黑"/>
              </a:rPr>
              <a:t>归因黑盒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2" y="4709160"/>
            <a:ext cx="3611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Cookie 时代终结，“我知道广告费浪费了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一半但不知道哪一半”仍是常态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PARADIGM SHIFTS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2026，三个范式转移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05840" cy="2032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204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Consolas"/>
                <a:ea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834640"/>
            <a:ext cx="822960" cy="1651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A1F"/>
                </a:solidFill>
                <a:latin typeface="Georgia"/>
                <a:ea typeface="微软雅黑"/>
              </a:rPr>
              <a:t>Agent OS 元年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6B6B6B"/>
                </a:solidFill>
                <a:latin typeface="Arial"/>
                <a:ea typeface="微软雅黑"/>
              </a:rPr>
              <a:t>81% 企业计划部署智能体（Google 数据），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6B6B6B"/>
                </a:solidFill>
                <a:latin typeface="Arial"/>
                <a:ea typeface="微软雅黑"/>
              </a:rPr>
              <a:t>行业从“生成式 AI”转向“Agent”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691640"/>
            <a:ext cx="35204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2024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Consolas"/>
                <a:ea typeface="微软雅黑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90872" y="2834640"/>
            <a:ext cx="822960" cy="1651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A1F"/>
                </a:solidFill>
                <a:latin typeface="Georgia"/>
                <a:ea typeface="微软雅黑"/>
              </a:rPr>
              <a:t>GEO 崛起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65760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6B6B6B"/>
                </a:solidFill>
                <a:latin typeface="Arial"/>
                <a:ea typeface="微软雅黑"/>
              </a:rPr>
              <a:t>AI 生成式搜索成为新渠道，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6B6B6B"/>
                </a:solidFill>
                <a:latin typeface="Arial"/>
                <a:ea typeface="微软雅黑"/>
              </a:rPr>
              <a:t>获客成本降低 50-70%，7-15 天见效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4" y="1691640"/>
            <a:ext cx="35204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192024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Consolas"/>
                <a:ea typeface="微软雅黑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13064" y="2834640"/>
            <a:ext cx="822960" cy="1651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A1F"/>
                </a:solidFill>
                <a:latin typeface="Georgia"/>
                <a:ea typeface="微软雅黑"/>
              </a:rPr>
              <a:t>Cookieless 归因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365760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6B6B6B"/>
                </a:solidFill>
                <a:latin typeface="Arial"/>
                <a:ea typeface="微软雅黑"/>
              </a:rPr>
              <a:t>MTA 让位于 AI 增强的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6B6B6B"/>
                </a:solidFill>
                <a:latin typeface="Arial"/>
                <a:ea typeface="微软雅黑"/>
              </a:rPr>
              <a:t>MMM + Incrementality Testing 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AI 获客 × AI 营销 双引擎闭环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05840" cy="2032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9601200" cy="84124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645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eorgia"/>
                <a:ea typeface="微软雅黑"/>
              </a:rPr>
              <a:t>触达层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4600" y="1783080"/>
            <a:ext cx="15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600200"/>
            <a:ext cx="7315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  <a:ea typeface="微软雅黑"/>
              </a:rPr>
              <a:t>智能投放 / GEO / 外呼 / 内容工厂 / 数字人直播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9601200" cy="84124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1645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eorgia"/>
                <a:ea typeface="微软雅黑"/>
              </a:rPr>
              <a:t>数据层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2743200"/>
            <a:ext cx="15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2560320"/>
            <a:ext cx="7315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  <a:ea typeface="微软雅黑"/>
              </a:rPr>
              <a:t>CDP + 第一方数据 + PETs 隐私计算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20440"/>
            <a:ext cx="9601200" cy="84124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20440"/>
            <a:ext cx="1645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eorgia"/>
                <a:ea typeface="微软雅黑"/>
              </a:rPr>
              <a:t>决策层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14600" y="3703320"/>
            <a:ext cx="15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0" y="3520440"/>
            <a:ext cx="7315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  <a:ea typeface="微软雅黑"/>
              </a:rPr>
              <a:t>AI Agent 编排 + 多臂老虎机 + 预测模型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80560"/>
            <a:ext cx="9601200" cy="84124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480560"/>
            <a:ext cx="1645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eorgia"/>
                <a:ea typeface="微软雅黑"/>
              </a:rPr>
              <a:t>度量层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4663440"/>
            <a:ext cx="15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4480560"/>
            <a:ext cx="7315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  <a:ea typeface="微软雅黑"/>
              </a:rPr>
              <a:t>LightweightMMM + Rockerbox + TTD 归因</a:t>
            </a:r>
          </a:p>
        </p:txBody>
      </p:sp>
      <p:sp>
        <p:nvSpPr>
          <p:cNvPr id="21" name="Up Arrow 20"/>
          <p:cNvSpPr/>
          <p:nvPr/>
        </p:nvSpPr>
        <p:spPr>
          <a:xfrm>
            <a:off x="10561320" y="1600200"/>
            <a:ext cx="960120" cy="3794760"/>
          </a:xfrm>
          <a:prstGeom prst="upArrow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0" y="544068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闭环回流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AI ACQUISITION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AI 获客四件套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05840" cy="2032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09167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9144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8956A"/>
                </a:solidFill>
                <a:latin typeface="Consolas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691640"/>
            <a:ext cx="21945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F"/>
                </a:solidFill>
                <a:latin typeface="Georgia"/>
                <a:ea typeface="微软雅黑"/>
              </a:rPr>
              <a:t>智能投放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91640"/>
            <a:ext cx="5943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Meta Advantage+（ROI +32%）/ Google PMax / TikTok Smart+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691640"/>
            <a:ext cx="1371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9C7A4E"/>
                </a:solidFill>
                <a:latin typeface="Consolas"/>
                <a:ea typeface="微软雅黑"/>
              </a:rPr>
              <a:t>ROI +32%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16352"/>
            <a:ext cx="1109167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16352"/>
            <a:ext cx="9144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8956A"/>
                </a:solidFill>
                <a:latin typeface="Consolas"/>
                <a:ea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16352"/>
            <a:ext cx="21945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F"/>
                </a:solidFill>
                <a:latin typeface="Georgia"/>
                <a:ea typeface="微软雅黑"/>
              </a:rPr>
              <a:t>AI GEO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816352"/>
            <a:ext cx="5943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豆包 / 文心一言 / ChatGPT 优先抓取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2816352"/>
            <a:ext cx="1371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9C7A4E"/>
                </a:solidFill>
                <a:latin typeface="Consolas"/>
                <a:ea typeface="微软雅黑"/>
              </a:rPr>
              <a:t>CAC -50~70%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41064"/>
            <a:ext cx="1109167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41064"/>
            <a:ext cx="9144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8956A"/>
                </a:solidFill>
                <a:latin typeface="Consolas"/>
                <a:ea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41064"/>
            <a:ext cx="21945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F"/>
                </a:solidFill>
                <a:latin typeface="Georgia"/>
                <a:ea typeface="微软雅黑"/>
              </a:rPr>
              <a:t>AI 外呼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3941064"/>
            <a:ext cx="5943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日均 3000+ 通（10x），成本 1/10；B2B 案例 CAC 1120→420 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3941064"/>
            <a:ext cx="1371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9C7A4E"/>
                </a:solidFill>
                <a:latin typeface="Consolas"/>
                <a:ea typeface="微软雅黑"/>
              </a:rPr>
              <a:t>10x 产能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65776"/>
            <a:ext cx="1109167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65776"/>
            <a:ext cx="9144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8956A"/>
                </a:solidFill>
                <a:latin typeface="Consolas"/>
                <a:ea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065776"/>
            <a:ext cx="21945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F"/>
                </a:solidFill>
                <a:latin typeface="Georgia"/>
                <a:ea typeface="微软雅黑"/>
              </a:rPr>
              <a:t>私域 SCRM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5065776"/>
            <a:ext cx="5943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微伴助手 + 企微，85% 企业列为年度核心需求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5065776"/>
            <a:ext cx="1371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9C7A4E"/>
                </a:solidFill>
                <a:latin typeface="Consolas"/>
                <a:ea typeface="微软雅黑"/>
              </a:rPr>
              <a:t>85% 渗透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AI VIDEO GENERATION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2026 AI 视频生成 双雄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05840" cy="2032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8640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86400" cy="56692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Georgia"/>
                <a:ea typeface="微软雅黑"/>
              </a:rPr>
              <a:t>可灵 3.0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937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6A"/>
                </a:solidFill>
                <a:latin typeface="Arial"/>
                <a:ea typeface="微软雅黑"/>
              </a:rPr>
              <a:t>●  </a:t>
            </a:r>
            <a:r>
              <a:rPr sz="1300" b="1" i="0">
                <a:solidFill>
                  <a:srgbClr val="9C7A4E"/>
                </a:solidFill>
                <a:latin typeface="Arial"/>
                <a:ea typeface="微软雅黑"/>
              </a:rPr>
              <a:t>全球登顶   </a:t>
            </a:r>
            <a:r>
              <a:rPr sz="1250" b="0" i="0">
                <a:solidFill>
                  <a:srgbClr val="1A1A1F"/>
                </a:solidFill>
                <a:latin typeface="Arial"/>
                <a:ea typeface="微软雅黑"/>
              </a:rPr>
              <a:t>1240 ELO 文生视频榜首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90088"/>
            <a:ext cx="4937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6A"/>
                </a:solidFill>
                <a:latin typeface="Arial"/>
                <a:ea typeface="微软雅黑"/>
              </a:rPr>
              <a:t>●  </a:t>
            </a:r>
            <a:r>
              <a:rPr sz="1300" b="1" i="0">
                <a:solidFill>
                  <a:srgbClr val="9C7A4E"/>
                </a:solidFill>
                <a:latin typeface="Arial"/>
                <a:ea typeface="微软雅黑"/>
              </a:rPr>
              <a:t>企业规模   </a:t>
            </a:r>
            <a:r>
              <a:rPr sz="1250" b="0" i="0">
                <a:solidFill>
                  <a:srgbClr val="1A1A1F"/>
                </a:solidFill>
                <a:latin typeface="Arial"/>
                <a:ea typeface="微软雅黑"/>
              </a:rPr>
              <a:t>3 万+ 企业，覆盖 149 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48456"/>
            <a:ext cx="4937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6A"/>
                </a:solidFill>
                <a:latin typeface="Arial"/>
                <a:ea typeface="微软雅黑"/>
              </a:rPr>
              <a:t>●  </a:t>
            </a:r>
            <a:r>
              <a:rPr sz="1300" b="1" i="0">
                <a:solidFill>
                  <a:srgbClr val="9C7A4E"/>
                </a:solidFill>
                <a:latin typeface="Arial"/>
                <a:ea typeface="微软雅黑"/>
              </a:rPr>
              <a:t>原生中文   </a:t>
            </a:r>
            <a:r>
              <a:rPr sz="1250" b="0" i="0">
                <a:solidFill>
                  <a:srgbClr val="1A1A1F"/>
                </a:solidFill>
                <a:latin typeface="Arial"/>
                <a:ea typeface="微软雅黑"/>
              </a:rPr>
              <a:t>本土文化 / 人脸 / 服饰理解最佳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06824"/>
            <a:ext cx="4937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6A"/>
                </a:solidFill>
                <a:latin typeface="Arial"/>
                <a:ea typeface="微软雅黑"/>
              </a:rPr>
              <a:t>●  </a:t>
            </a:r>
            <a:r>
              <a:rPr sz="1300" b="1" i="0">
                <a:solidFill>
                  <a:srgbClr val="9C7A4E"/>
                </a:solidFill>
                <a:latin typeface="Arial"/>
                <a:ea typeface="微软雅黑"/>
              </a:rPr>
              <a:t>商用首选   </a:t>
            </a:r>
            <a:r>
              <a:rPr sz="1250" b="0" i="0">
                <a:solidFill>
                  <a:srgbClr val="1A1A1F"/>
                </a:solidFill>
                <a:latin typeface="Arial"/>
                <a:ea typeface="微软雅黑"/>
              </a:rPr>
              <a:t>企业 SLA 可签，API 最成熟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65192"/>
            <a:ext cx="4937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6A"/>
                </a:solidFill>
                <a:latin typeface="Arial"/>
                <a:ea typeface="微软雅黑"/>
              </a:rPr>
              <a:t>●  </a:t>
            </a:r>
            <a:r>
              <a:rPr sz="1300" b="1" i="0">
                <a:solidFill>
                  <a:srgbClr val="9C7A4E"/>
                </a:solidFill>
                <a:latin typeface="Arial"/>
                <a:ea typeface="微软雅黑"/>
              </a:rPr>
              <a:t>适用   </a:t>
            </a:r>
            <a:r>
              <a:rPr sz="1250" b="0" i="0">
                <a:solidFill>
                  <a:srgbClr val="1A1A1F"/>
                </a:solidFill>
                <a:latin typeface="Arial"/>
                <a:ea typeface="微软雅黑"/>
              </a:rPr>
              <a:t>中文信息流广告、电商短视频、出海内容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600200"/>
            <a:ext cx="548640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53912" y="1600200"/>
            <a:ext cx="5486400" cy="56692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00200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Georgia"/>
                <a:ea typeface="微软雅黑"/>
              </a:rPr>
              <a:t>Seedance 2.0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331720"/>
            <a:ext cx="4937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6A"/>
                </a:solidFill>
                <a:latin typeface="Arial"/>
                <a:ea typeface="微软雅黑"/>
              </a:rPr>
              <a:t>●  </a:t>
            </a:r>
            <a:r>
              <a:rPr sz="1300" b="1" i="0">
                <a:solidFill>
                  <a:srgbClr val="9C7A4E"/>
                </a:solidFill>
                <a:latin typeface="Arial"/>
                <a:ea typeface="微软雅黑"/>
              </a:rPr>
              <a:t>定价透明   </a:t>
            </a:r>
            <a:r>
              <a:rPr sz="1250" b="0" i="0">
                <a:solidFill>
                  <a:srgbClr val="1A1A1F"/>
                </a:solidFill>
                <a:latin typeface="Arial"/>
                <a:ea typeface="微软雅黑"/>
              </a:rPr>
              <a:t>¥1/秒，15 秒视频约 ¥30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990088"/>
            <a:ext cx="4937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6A"/>
                </a:solidFill>
                <a:latin typeface="Arial"/>
                <a:ea typeface="微软雅黑"/>
              </a:rPr>
              <a:t>●  </a:t>
            </a:r>
            <a:r>
              <a:rPr sz="1300" b="1" i="0">
                <a:solidFill>
                  <a:srgbClr val="9C7A4E"/>
                </a:solidFill>
                <a:latin typeface="Arial"/>
                <a:ea typeface="微软雅黑"/>
              </a:rPr>
              <a:t>商业规模   </a:t>
            </a:r>
            <a:r>
              <a:rPr sz="1250" b="0" i="0">
                <a:solidFill>
                  <a:srgbClr val="1A1A1F"/>
                </a:solidFill>
                <a:latin typeface="Arial"/>
                <a:ea typeface="微软雅黑"/>
              </a:rPr>
              <a:t>日营收 ¥4000 万，即梦 Q1 MAU 1352 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648456"/>
            <a:ext cx="4937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6A"/>
                </a:solidFill>
                <a:latin typeface="Arial"/>
                <a:ea typeface="微软雅黑"/>
              </a:rPr>
              <a:t>●  </a:t>
            </a:r>
            <a:r>
              <a:rPr sz="1300" b="1" i="0">
                <a:solidFill>
                  <a:srgbClr val="9C7A4E"/>
                </a:solidFill>
                <a:latin typeface="Arial"/>
                <a:ea typeface="微软雅黑"/>
              </a:rPr>
              <a:t>抖音生态   </a:t>
            </a:r>
            <a:r>
              <a:rPr sz="1250" b="0" i="0">
                <a:solidFill>
                  <a:srgbClr val="1A1A1F"/>
                </a:solidFill>
                <a:latin typeface="Arial"/>
                <a:ea typeface="微软雅黑"/>
              </a:rPr>
              <a:t>与抖音 / 即梦深度打通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306824"/>
            <a:ext cx="4937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6A"/>
                </a:solidFill>
                <a:latin typeface="Arial"/>
                <a:ea typeface="微软雅黑"/>
              </a:rPr>
              <a:t>●  </a:t>
            </a:r>
            <a:r>
              <a:rPr sz="1300" b="1" i="0">
                <a:solidFill>
                  <a:srgbClr val="9C7A4E"/>
                </a:solidFill>
                <a:latin typeface="Arial"/>
                <a:ea typeface="微软雅黑"/>
              </a:rPr>
              <a:t>多镜头叙事   </a:t>
            </a:r>
            <a:r>
              <a:rPr sz="1250" b="0" i="0">
                <a:solidFill>
                  <a:srgbClr val="1A1A1F"/>
                </a:solidFill>
                <a:latin typeface="Arial"/>
                <a:ea typeface="微软雅黑"/>
              </a:rPr>
              <a:t>电影级调色 + 剪辑感强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4965192"/>
            <a:ext cx="4937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8956A"/>
                </a:solidFill>
                <a:latin typeface="Arial"/>
                <a:ea typeface="微软雅黑"/>
              </a:rPr>
              <a:t>●  </a:t>
            </a:r>
            <a:r>
              <a:rPr sz="1300" b="1" i="0">
                <a:solidFill>
                  <a:srgbClr val="9C7A4E"/>
                </a:solidFill>
                <a:latin typeface="Arial"/>
                <a:ea typeface="微软雅黑"/>
              </a:rPr>
              <a:t>适用   </a:t>
            </a:r>
            <a:r>
              <a:rPr sz="1250" b="0" i="0">
                <a:solidFill>
                  <a:srgbClr val="1A1A1F"/>
                </a:solidFill>
                <a:latin typeface="Arial"/>
                <a:ea typeface="微软雅黑"/>
              </a:rPr>
              <a:t>短剧量产、口播数字人、电商带货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897880"/>
            <a:ext cx="11091672" cy="1143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9C7A4E"/>
                </a:solidFill>
                <a:latin typeface="Arial"/>
                <a:ea typeface="微软雅黑"/>
              </a:rPr>
              <a:t>企业落地推荐  =  可灵（中文商用）  +  Seedance（抖音生态）  +  Wan 2.7（私有化部署）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AIGC CONTENT FACTORY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AIGC 内容工厂 · 1→1000 变体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05840" cy="2032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TECH STACK  ·  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914400" cy="1651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52120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963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C7A4E"/>
                </a:solidFill>
                <a:latin typeface="Georgia"/>
                <a:ea typeface="微软雅黑"/>
              </a:rPr>
              <a:t>图片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1A1A1F"/>
                </a:solidFill>
                <a:latin typeface="Arial"/>
                <a:ea typeface="微软雅黑"/>
              </a:rPr>
              <a:t>GPT-5.6 Image（$0.006/张，文字 99%）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1A1A1F"/>
                </a:solidFill>
                <a:latin typeface="Arial"/>
                <a:ea typeface="微软雅黑"/>
              </a:rPr>
              <a:t>Firefly 5（商用 indemnity） / Flux 2 Klein（Apache 2.0）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22192"/>
            <a:ext cx="52120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8678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C7A4E"/>
                </a:solidFill>
                <a:latin typeface="Georgia"/>
                <a:ea typeface="微软雅黑"/>
              </a:rPr>
              <a:t>文案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25112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1A1A1F"/>
                </a:solidFill>
                <a:latin typeface="Arial"/>
                <a:ea typeface="微软雅黑"/>
              </a:rPr>
              <a:t>GPT-5.6 + Jasper Brand Voice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1A1A1F"/>
                </a:solidFill>
                <a:latin typeface="Arial"/>
                <a:ea typeface="微软雅黑"/>
              </a:rPr>
              <a:t>Claude Opus 4.8（合规）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12664"/>
            <a:ext cx="52120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47725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C7A4E"/>
                </a:solidFill>
                <a:latin typeface="Georgia"/>
                <a:ea typeface="微软雅黑"/>
              </a:rPr>
              <a:t>编排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815584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1A1A1F"/>
                </a:solidFill>
                <a:latin typeface="Arial"/>
                <a:ea typeface="微软雅黑"/>
              </a:rPr>
              <a:t>Dify / Coze / n8n  +  MCP 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WORKFLOW  ·  7 步工作流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2103120"/>
            <a:ext cx="914400" cy="1651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46520" y="2286000"/>
            <a:ext cx="5212080" cy="475488"/>
          </a:xfrm>
          <a:prstGeom prst="roundRect">
            <a:avLst>
              <a:gd name="adj" fmla="val 20000"/>
            </a:avLst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212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  <a:ea typeface="微软雅黑"/>
              </a:rPr>
              <a:t>主创意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8924544" y="2761488"/>
            <a:ext cx="256032" cy="137160"/>
          </a:xfrm>
          <a:prstGeom prst="downArrow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46520" y="2898648"/>
            <a:ext cx="5212080" cy="475488"/>
          </a:xfrm>
          <a:prstGeom prst="roundRect">
            <a:avLst>
              <a:gd name="adj" fmla="val 20000"/>
            </a:avLst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898648"/>
            <a:ext cx="5212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  <a:ea typeface="微软雅黑"/>
              </a:rPr>
              <a:t>LLM 1000 文案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8924544" y="3374136"/>
            <a:ext cx="256032" cy="137160"/>
          </a:xfrm>
          <a:prstGeom prst="downArrow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46520" y="3511296"/>
            <a:ext cx="5212080" cy="475488"/>
          </a:xfrm>
          <a:prstGeom prst="roundRect">
            <a:avLst>
              <a:gd name="adj" fmla="val 20000"/>
            </a:avLst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511296"/>
            <a:ext cx="5212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  <a:ea typeface="微软雅黑"/>
              </a:rPr>
              <a:t>文生图 1000 图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8924544" y="3986784"/>
            <a:ext cx="256032" cy="137160"/>
          </a:xfrm>
          <a:prstGeom prst="downArrow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46520" y="4123944"/>
            <a:ext cx="5212080" cy="475488"/>
          </a:xfrm>
          <a:prstGeom prst="roundRect">
            <a:avLst>
              <a:gd name="adj" fmla="val 20000"/>
            </a:avLst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123944"/>
            <a:ext cx="5212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  <a:ea typeface="微软雅黑"/>
              </a:rPr>
              <a:t>数字人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8924544" y="4599432"/>
            <a:ext cx="256032" cy="137160"/>
          </a:xfrm>
          <a:prstGeom prst="downArrow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46520" y="4736592"/>
            <a:ext cx="5212080" cy="475488"/>
          </a:xfrm>
          <a:prstGeom prst="roundRect">
            <a:avLst>
              <a:gd name="adj" fmla="val 20000"/>
            </a:avLst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736592"/>
            <a:ext cx="5212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  <a:ea typeface="微软雅黑"/>
              </a:rPr>
              <a:t>自动审核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8924544" y="5212080"/>
            <a:ext cx="256032" cy="137160"/>
          </a:xfrm>
          <a:prstGeom prst="downArrow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46520" y="5349240"/>
            <a:ext cx="5212080" cy="475488"/>
          </a:xfrm>
          <a:prstGeom prst="roundRect">
            <a:avLst>
              <a:gd name="adj" fmla="val 20000"/>
            </a:avLst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349240"/>
            <a:ext cx="5212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  <a:ea typeface="微软雅黑"/>
              </a:rPr>
              <a:t>平台投放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8924544" y="5824728"/>
            <a:ext cx="256032" cy="137160"/>
          </a:xfrm>
          <a:prstGeom prst="downArrow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46520" y="5961888"/>
            <a:ext cx="5212080" cy="475488"/>
          </a:xfrm>
          <a:prstGeom prst="roundRect">
            <a:avLst>
              <a:gd name="adj" fmla="val 20000"/>
            </a:avLst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961888"/>
            <a:ext cx="5212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  <a:ea typeface="微软雅黑"/>
              </a:rPr>
              <a:t>自动 A/B + 择优加预算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AI DIGITAL HUMAN · 24/7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24h 无人带货 · 全球多语言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05840" cy="2032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204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20440" cy="5029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  <a:ea typeface="微软雅黑"/>
              </a:rPr>
              <a:t>国内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956A"/>
                </a:solidFill>
                <a:latin typeface="Arial"/>
                <a:ea typeface="微软雅黑"/>
              </a:rPr>
              <a:t>—  </a:t>
            </a:r>
            <a:r>
              <a:rPr sz="1300" b="0" i="0">
                <a:solidFill>
                  <a:srgbClr val="1A1A1F"/>
                </a:solidFill>
                <a:latin typeface="Arial"/>
                <a:ea typeface="微软雅黑"/>
              </a:rPr>
              <a:t>硅基智能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17520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956A"/>
                </a:solidFill>
                <a:latin typeface="Arial"/>
                <a:ea typeface="微软雅黑"/>
              </a:rPr>
              <a:t>—  </a:t>
            </a:r>
            <a:r>
              <a:rPr sz="1300" b="0" i="0">
                <a:solidFill>
                  <a:srgbClr val="1A1A1F"/>
                </a:solidFill>
                <a:latin typeface="Arial"/>
                <a:ea typeface="微软雅黑"/>
              </a:rPr>
              <a:t>百度曦灵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66160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956A"/>
                </a:solidFill>
                <a:latin typeface="Arial"/>
                <a:ea typeface="微软雅黑"/>
              </a:rPr>
              <a:t>—  </a:t>
            </a:r>
            <a:r>
              <a:rPr sz="1300" b="0" i="0">
                <a:solidFill>
                  <a:srgbClr val="1A1A1F"/>
                </a:solidFill>
                <a:latin typeface="Arial"/>
                <a:ea typeface="微软雅黑"/>
              </a:rPr>
              <a:t>腾讯智影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572000"/>
            <a:ext cx="2971800" cy="1143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6344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C7A4E"/>
                </a:solidFill>
                <a:latin typeface="Consolas"/>
                <a:ea typeface="微软雅黑"/>
              </a:rPr>
              <a:t>80 亿市场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691640"/>
            <a:ext cx="35204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70832" y="1691640"/>
            <a:ext cx="3520440" cy="5029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0832" y="169164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  <a:ea typeface="微软雅黑"/>
              </a:rPr>
              <a:t>海外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468880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956A"/>
                </a:solidFill>
                <a:latin typeface="Arial"/>
                <a:ea typeface="微软雅黑"/>
              </a:rPr>
              <a:t>—  </a:t>
            </a:r>
            <a:r>
              <a:rPr sz="1300" b="0" i="0">
                <a:solidFill>
                  <a:srgbClr val="1A1A1F"/>
                </a:solidFill>
                <a:latin typeface="Arial"/>
                <a:ea typeface="微软雅黑"/>
              </a:rPr>
              <a:t>HeyGen（口型同步精度最高）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3017520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956A"/>
                </a:solidFill>
                <a:latin typeface="Arial"/>
                <a:ea typeface="微软雅黑"/>
              </a:rPr>
              <a:t>—  </a:t>
            </a:r>
            <a:r>
              <a:rPr sz="1300" b="0" i="0">
                <a:solidFill>
                  <a:srgbClr val="1A1A1F"/>
                </a:solidFill>
                <a:latin typeface="Arial"/>
                <a:ea typeface="微软雅黑"/>
              </a:rPr>
              <a:t>Synthesia（企业级）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45152" y="4572000"/>
            <a:ext cx="2971800" cy="1143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466344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C7A4E"/>
                </a:solidFill>
                <a:latin typeface="Consolas"/>
                <a:ea typeface="微软雅黑"/>
              </a:rPr>
              <a:t>口型 / 企业级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93024" y="1691640"/>
            <a:ext cx="35204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93024" y="1691640"/>
            <a:ext cx="3520440" cy="5029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4" y="169164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  <a:ea typeface="微软雅黑"/>
              </a:rPr>
              <a:t>开源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468880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956A"/>
                </a:solidFill>
                <a:latin typeface="Arial"/>
                <a:ea typeface="微软雅黑"/>
              </a:rPr>
              <a:t>—  </a:t>
            </a:r>
            <a:r>
              <a:rPr sz="1300" b="0" i="0">
                <a:solidFill>
                  <a:srgbClr val="1A1A1F"/>
                </a:solidFill>
                <a:latin typeface="Arial"/>
                <a:ea typeface="微软雅黑"/>
              </a:rPr>
              <a:t>Heygem（本地批量，免费）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67344" y="4572000"/>
            <a:ext cx="2971800" cy="1143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67344" y="466344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C7A4E"/>
                </a:solidFill>
                <a:latin typeface="Consolas"/>
                <a:ea typeface="微软雅黑"/>
              </a:rPr>
              <a:t>免费 / 私有化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77840"/>
            <a:ext cx="11091672" cy="56692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577840"/>
            <a:ext cx="110916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  <a:ea typeface="微软雅黑"/>
              </a:rPr>
              <a:t>某客户 3 个月内容产出 +10 倍，单获客成本 -42%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DATA CLOSED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CDP + AI 归因 · 闭环优化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05840" cy="2032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091672" cy="1143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7373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eorgia"/>
                <a:ea typeface="微软雅黑"/>
              </a:rPr>
              <a:t>数据层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920240"/>
            <a:ext cx="15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691640"/>
            <a:ext cx="850392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Arial"/>
                <a:ea typeface="微软雅黑"/>
              </a:rPr>
              <a:t>ConvertLab / 瓴羊 / 神策  CDP 整合全域数据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17520"/>
            <a:ext cx="11091672" cy="1143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17373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eorgia"/>
                <a:ea typeface="微软雅黑"/>
              </a:rPr>
              <a:t>模型层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246120"/>
            <a:ext cx="15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3017520"/>
            <a:ext cx="850392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Arial"/>
                <a:ea typeface="微软雅黑"/>
              </a:rPr>
              <a:t>AI 预测生命周期 + 线索评分 + 多臂老虎机择优（Bayesian + CUPED）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43400"/>
            <a:ext cx="11091672" cy="1143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17373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eorgia"/>
                <a:ea typeface="微软雅黑"/>
              </a:rPr>
              <a:t>归因层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4572000"/>
            <a:ext cx="15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4343400"/>
            <a:ext cx="850392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Arial"/>
                <a:ea typeface="微软雅黑"/>
              </a:rPr>
              <a:t>Google LightweightMMM（贝叶斯 MMM）+ Rockerbox（MTA+MMM+Incrementality 三合一）+ TTD（隐私合规）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06440"/>
            <a:ext cx="11091672" cy="1143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9C7A4E"/>
                </a:solidFill>
                <a:latin typeface="Arial"/>
                <a:ea typeface="微软雅黑"/>
              </a:rPr>
              <a:t>从“我知道浪费了一半”  →  AI 因果归因，数清每一分预算真实贡献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WUJIE CASES · VALIDATED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6 个实战项目 · 数据验证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05840" cy="2032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204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8956A"/>
                </a:solidFill>
                <a:latin typeface="Consolas"/>
                <a:ea typeface="微软雅黑"/>
              </a:rPr>
              <a:t>PRJ-02-B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75688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F"/>
                </a:solidFill>
                <a:latin typeface="Georgia"/>
                <a:ea typeface="微软雅黑"/>
              </a:rPr>
              <a:t>AI 智能外呼获客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87752"/>
            <a:ext cx="640080" cy="1651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Consolas"/>
                <a:ea typeface="微软雅黑"/>
              </a:rPr>
              <a:t>外呼效率 10x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192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单获客成本 -65%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691640"/>
            <a:ext cx="35204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8288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8956A"/>
                </a:solidFill>
                <a:latin typeface="Consolas"/>
                <a:ea typeface="微软雅黑"/>
              </a:rPr>
              <a:t>PRJ-02-A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075688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F"/>
                </a:solidFill>
                <a:latin typeface="Georgia"/>
                <a:ea typeface="微软雅黑"/>
              </a:rPr>
              <a:t>AI-GEO 系统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99432" y="2587752"/>
            <a:ext cx="640080" cy="1651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697480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Consolas"/>
                <a:ea typeface="微软雅黑"/>
              </a:rPr>
              <a:t>AI 引擎曝光 +220%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33192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覆盖 15+ AI 平台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691640"/>
            <a:ext cx="35204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8956A"/>
                </a:solidFill>
                <a:latin typeface="Consolas"/>
                <a:ea typeface="微软雅黑"/>
              </a:rPr>
              <a:t>PRJ-02-C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075688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F"/>
                </a:solidFill>
                <a:latin typeface="Georgia"/>
                <a:ea typeface="微软雅黑"/>
              </a:rPr>
              <a:t>AI 内容营销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21624" y="2587752"/>
            <a:ext cx="640080" cy="1651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4" y="2697480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Consolas"/>
                <a:ea typeface="微软雅黑"/>
              </a:rPr>
              <a:t>内容产出 +10 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33192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单获客成本 -42%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77639"/>
            <a:ext cx="35204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14799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8956A"/>
                </a:solidFill>
                <a:latin typeface="Consolas"/>
                <a:ea typeface="微软雅黑"/>
              </a:rPr>
              <a:t>PRJ-01-A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361687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F"/>
                </a:solidFill>
                <a:latin typeface="Georgia"/>
                <a:ea typeface="微软雅黑"/>
              </a:rPr>
              <a:t>AI-CRM 系统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73751"/>
            <a:ext cx="640080" cy="1651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983479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Consolas"/>
                <a:ea typeface="微软雅黑"/>
              </a:rPr>
              <a:t>线索转化率 +38%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0527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流失率 -45%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0832" y="3977639"/>
            <a:ext cx="35204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9432" y="4114799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8956A"/>
                </a:solidFill>
                <a:latin typeface="Consolas"/>
                <a:ea typeface="微软雅黑"/>
              </a:rPr>
              <a:t>PRJ-03-B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9432" y="4361687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F"/>
                </a:solidFill>
                <a:latin typeface="Georgia"/>
                <a:ea typeface="微软雅黑"/>
              </a:rPr>
              <a:t>AI-Agent 系统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9432" y="4873751"/>
            <a:ext cx="640080" cy="1651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99432" y="4983479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Consolas"/>
                <a:ea typeface="微软雅黑"/>
              </a:rPr>
              <a:t>12+ 智能体协同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9432" y="560527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任务成功率 87%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93024" y="3977639"/>
            <a:ext cx="35204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21624" y="4114799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8956A"/>
                </a:solidFill>
                <a:latin typeface="Consolas"/>
                <a:ea typeface="微软雅黑"/>
              </a:rPr>
              <a:t>PRJ-04-A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1624" y="4361687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F"/>
                </a:solidFill>
                <a:latin typeface="Georgia"/>
                <a:ea typeface="微软雅黑"/>
              </a:rPr>
              <a:t>多语言营销引擎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21624" y="4873751"/>
            <a:ext cx="640080" cy="1651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21624" y="4983479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Consolas"/>
                <a:ea typeface="微软雅黑"/>
              </a:rPr>
              <a:t>30+ 语种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1624" y="560527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ROAS 3.8 / CTR +45%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90-DAY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90 天落地计划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05840" cy="2032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6587" y="1920240"/>
            <a:ext cx="251460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86587" y="1920240"/>
            <a:ext cx="2514600" cy="5029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587" y="1920240"/>
            <a:ext cx="2514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nsolas"/>
                <a:ea typeface="微软雅黑"/>
              </a:rPr>
              <a:t>Day 1-15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587" y="260604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诊断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1135227" y="3246120"/>
            <a:ext cx="1417320" cy="1270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187" y="3429000"/>
            <a:ext cx="2057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1A1A1F"/>
                </a:solidFill>
                <a:latin typeface="Arial"/>
                <a:ea typeface="微软雅黑"/>
              </a:rPr>
              <a:t>业务审计</a:t>
            </a:r>
          </a:p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1A1A1F"/>
                </a:solidFill>
                <a:latin typeface="Arial"/>
                <a:ea typeface="微软雅黑"/>
              </a:rPr>
              <a:t>数据基础设施评估</a:t>
            </a:r>
          </a:p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1A1A1F"/>
                </a:solidFill>
                <a:latin typeface="Arial"/>
                <a:ea typeface="微软雅黑"/>
              </a:rPr>
              <a:t>KPI 定义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19475" y="3474720"/>
            <a:ext cx="283464" cy="274320"/>
          </a:xfrm>
          <a:prstGeom prst="rightArrow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21227" y="1920240"/>
            <a:ext cx="251460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1227" y="1920240"/>
            <a:ext cx="2514600" cy="5029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1227" y="1920240"/>
            <a:ext cx="2514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nsolas"/>
                <a:ea typeface="微软雅黑"/>
              </a:rPr>
              <a:t>Day 16-45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1227" y="260604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试点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9867" y="3246120"/>
            <a:ext cx="1417320" cy="1270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9827" y="3429000"/>
            <a:ext cx="2057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1A1A1F"/>
                </a:solidFill>
                <a:latin typeface="Arial"/>
                <a:ea typeface="微软雅黑"/>
              </a:rPr>
              <a:t>GEO + 外呼</a:t>
            </a:r>
          </a:p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1A1A1F"/>
                </a:solidFill>
                <a:latin typeface="Arial"/>
                <a:ea typeface="微软雅黑"/>
              </a:rPr>
              <a:t>内容工厂 MVP 上线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54115" y="3474720"/>
            <a:ext cx="283464" cy="274320"/>
          </a:xfrm>
          <a:prstGeom prst="rightArrow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55867" y="1920240"/>
            <a:ext cx="251460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55867" y="1920240"/>
            <a:ext cx="2514600" cy="5029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5867" y="1920240"/>
            <a:ext cx="2514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nsolas"/>
                <a:ea typeface="微软雅黑"/>
              </a:rPr>
              <a:t>Day 46-75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867" y="260604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扩展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04507" y="3246120"/>
            <a:ext cx="1417320" cy="1270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4467" y="3429000"/>
            <a:ext cx="2057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1A1A1F"/>
                </a:solidFill>
                <a:latin typeface="Arial"/>
                <a:ea typeface="微软雅黑"/>
              </a:rPr>
              <a:t>数字人 + CDP</a:t>
            </a:r>
          </a:p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1A1A1F"/>
                </a:solidFill>
                <a:latin typeface="Arial"/>
                <a:ea typeface="微软雅黑"/>
              </a:rPr>
              <a:t>归因系统接入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788755" y="3474720"/>
            <a:ext cx="283464" cy="274320"/>
          </a:xfrm>
          <a:prstGeom prst="rightArrow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90507" y="1920240"/>
            <a:ext cx="251460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0507" y="1920240"/>
            <a:ext cx="2514600" cy="5029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D4B896"/>
              </a:gs>
              <a:gs pos="100000">
                <a:srgbClr val="9C7A4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0507" y="1920240"/>
            <a:ext cx="2514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onsolas"/>
                <a:ea typeface="微软雅黑"/>
              </a:rPr>
              <a:t>Day 76-90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0507" y="260604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优化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39147" y="3246120"/>
            <a:ext cx="1417320" cy="1270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19107" y="3429000"/>
            <a:ext cx="2057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1A1A1F"/>
                </a:solidFill>
                <a:latin typeface="Arial"/>
                <a:ea typeface="微软雅黑"/>
              </a:rPr>
              <a:t>多臂老虎机自动择优</a:t>
            </a:r>
          </a:p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1A1A1F"/>
                </a:solidFill>
                <a:latin typeface="Arial"/>
                <a:ea typeface="微软雅黑"/>
              </a:rPr>
              <a:t>MMM 闭环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EXPECTED ROI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预期回报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1005840" cy="2032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3520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Consolas"/>
                <a:ea typeface="微软雅黑"/>
              </a:rPr>
              <a:t>40-65%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3840480"/>
            <a:ext cx="132588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3520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A1A1F"/>
                </a:solidFill>
                <a:latin typeface="Georgia"/>
                <a:ea typeface="微软雅黑"/>
              </a:rPr>
              <a:t>CAC 降低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外呼 + GEO + 内容工厂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83080"/>
            <a:ext cx="35204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2423160"/>
            <a:ext cx="3520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Consolas"/>
                <a:ea typeface="微软雅黑"/>
              </a:rPr>
              <a:t>10x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68112" y="3840480"/>
            <a:ext cx="132588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0832" y="4023360"/>
            <a:ext cx="3520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A1A1F"/>
                </a:solidFill>
                <a:latin typeface="Georgia"/>
                <a:ea typeface="微软雅黑"/>
              </a:rPr>
              <a:t>内容产能提升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46177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AIGC 工厂 + 数字人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4" y="1783080"/>
            <a:ext cx="35204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4" y="2423160"/>
            <a:ext cx="3520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Consolas"/>
                <a:ea typeface="微软雅黑"/>
              </a:rPr>
              <a:t>1.8-3.8x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90304" y="3840480"/>
            <a:ext cx="132588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4023360"/>
            <a:ext cx="3520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A1A1F"/>
                </a:solidFill>
                <a:latin typeface="Georgia"/>
                <a:ea typeface="微软雅黑"/>
              </a:rPr>
              <a:t>ROAS 提升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46177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Arial"/>
                <a:ea typeface="微软雅黑"/>
              </a:rPr>
              <a:t>多语言出海案例验证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760720"/>
            <a:ext cx="11091672" cy="1143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9C7A4E"/>
                </a:solidFill>
                <a:latin typeface="Arial"/>
                <a:ea typeface="微软雅黑"/>
              </a:rPr>
              <a:t>基于无界智源 6 个落地项目实测数据区间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8956A"/>
                </a:solidFill>
                <a:latin typeface="Arial"/>
                <a:ea typeface="微软雅黑"/>
              </a:rPr>
              <a:t>CONTACT  ·  WUJIE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463040" cy="1651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gradFill>
                  <a:gsLst>
                    <a:gs pos="0">
                      <a:srgbClr val="D4B896"/>
                    </a:gs>
                    <a:gs pos="100000">
                      <a:srgbClr val="9C7A4E"/>
                    </a:gs>
                  </a:gsLst>
                  <a:lin ang="5400000" scaled="1"/>
                </a:gradFill>
                <a:latin typeface="Georgia"/>
                <a:ea typeface="微软雅黑"/>
              </a:rPr>
              <a:t>一起把 AI 变成生产力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14600"/>
            <a:ext cx="10698480" cy="10160"/>
          </a:xfrm>
          <a:prstGeom prst="rect">
            <a:avLst/>
          </a:prstGeom>
          <a:solidFill>
            <a:srgbClr val="9C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7F4EF"/>
                </a:solidFill>
                <a:latin typeface="Georgia"/>
                <a:ea typeface="微软雅黑"/>
              </a:rPr>
              <a:t>无界智源  ·  Wujie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B8956A"/>
                </a:solidFill>
                <a:latin typeface="Arial"/>
                <a:ea typeface="微软雅黑"/>
              </a:rPr>
              <a:t>让智能，工程化落地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4B896"/>
                </a:solidFill>
                <a:latin typeface="Consolas"/>
                <a:ea typeface="微软雅黑"/>
              </a:rPr>
              <a:t>20+ 模型  /  13 项目  /  4 大行业方向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00600"/>
            <a:ext cx="18288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83464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7F4EF"/>
                </a:solidFill>
                <a:latin typeface="Georgia"/>
                <a:ea typeface="微软雅黑"/>
              </a:rPr>
              <a:t>吴杰  ·  AI 工程师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61188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8956A"/>
                </a:solidFill>
                <a:latin typeface="Arial"/>
                <a:ea typeface="微软雅黑"/>
              </a:rPr>
              <a:t>电话   </a:t>
            </a:r>
            <a:r>
              <a:rPr sz="1300" b="0" i="0">
                <a:solidFill>
                  <a:srgbClr val="F7F4EF"/>
                </a:solidFill>
                <a:latin typeface="Consolas"/>
                <a:ea typeface="微软雅黑"/>
              </a:rPr>
              <a:t>13798699236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050792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8956A"/>
                </a:solidFill>
                <a:latin typeface="Arial"/>
                <a:ea typeface="微软雅黑"/>
              </a:rPr>
              <a:t>微信   </a:t>
            </a:r>
            <a:r>
              <a:rPr sz="1300" b="0" i="0">
                <a:solidFill>
                  <a:srgbClr val="F7F4EF"/>
                </a:solidFill>
                <a:latin typeface="Consolas"/>
                <a:ea typeface="微软雅黑"/>
              </a:rPr>
              <a:t>Hdoudoucity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48970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8956A"/>
                </a:solidFill>
                <a:latin typeface="Arial"/>
                <a:ea typeface="微软雅黑"/>
              </a:rPr>
              <a:t>邮箱   </a:t>
            </a:r>
            <a:r>
              <a:rPr sz="1300" b="0" i="0">
                <a:solidFill>
                  <a:srgbClr val="F7F4EF"/>
                </a:solidFill>
                <a:latin typeface="Consolas"/>
                <a:ea typeface="微软雅黑"/>
              </a:rPr>
              <a:t>1277454461@QQ.COM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9286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8956A"/>
                </a:solidFill>
                <a:latin typeface="Arial"/>
                <a:ea typeface="微软雅黑"/>
              </a:rPr>
              <a:t>官网   </a:t>
            </a:r>
            <a:r>
              <a:rPr sz="1300" b="0" i="0">
                <a:solidFill>
                  <a:srgbClr val="F7F4EF"/>
                </a:solidFill>
                <a:latin typeface="Consolas"/>
                <a:ea typeface="微软雅黑"/>
              </a:rPr>
              <a:t>43965555.github.io/wujie-ai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126480"/>
            <a:ext cx="1069848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4B896"/>
                </a:solidFill>
                <a:latin typeface="Arial"/>
                <a:ea typeface="微软雅黑"/>
              </a:rPr>
              <a:t>WUJIE AI  ·  2026</a:t>
            </a:r>
          </a:p>
        </p:txBody>
      </p:sp>
      <p:sp>
        <p:nvSpPr>
          <p:cNvPr id="17" name="Diamond 16"/>
          <p:cNvSpPr/>
          <p:nvPr/>
        </p:nvSpPr>
        <p:spPr>
          <a:xfrm>
            <a:off x="10241280" y="5897880"/>
            <a:ext cx="457200" cy="457200"/>
          </a:xfrm>
          <a:prstGeom prst="diamond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