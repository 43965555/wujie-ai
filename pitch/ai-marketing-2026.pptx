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1051560"/>
            <a:ext cx="7315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>
                <a:solidFill>
                  <a:srgbClr val="B8956A"/>
                </a:solidFill>
                <a:latin typeface="Arial"/>
                <a:ea typeface="微软雅黑"/>
              </a:rPr>
              <a:t>WUJIE AI · INTELLIGENCE ENGINEERED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481328"/>
            <a:ext cx="11887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241280" cy="1371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5400" b="1">
                <a:solidFill>
                  <a:srgbClr val="B8956A"/>
                </a:solidFill>
                <a:latin typeface="Georgia"/>
                <a:ea typeface="微软雅黑"/>
              </a:rPr>
              <a:t>无界智源 × AI 获客营销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611880"/>
            <a:ext cx="1005840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800" b="0">
                <a:solidFill>
                  <a:srgbClr val="F7F4EF"/>
                </a:solidFill>
                <a:latin typeface="Georgia"/>
                <a:ea typeface="微软雅黑"/>
              </a:rPr>
              <a:t>2026 前沿方案总结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5989320"/>
            <a:ext cx="384048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6080760"/>
            <a:ext cx="45720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0">
                <a:solidFill>
                  <a:srgbClr val="D4B896"/>
                </a:solidFill>
                <a:latin typeface="Arial"/>
                <a:ea typeface="微软雅黑"/>
              </a:rPr>
              <a:t>2026.07  ·  吴杰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0" y="5257800"/>
            <a:ext cx="1280160" cy="82296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81360" y="5440680"/>
            <a:ext cx="731520" cy="82296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0" y="5623560"/>
            <a:ext cx="274320" cy="82296"/>
          </a:xfrm>
          <a:prstGeom prst="rect">
            <a:avLst/>
          </a:prstGeom>
          <a:solidFill>
            <a:srgbClr val="9C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传统获客的四重困境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527608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75688"/>
            <a:ext cx="1097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400" b="1">
                <a:solidFill>
                  <a:srgbClr val="B8956A"/>
                </a:solidFill>
                <a:latin typeface="Georgia"/>
                <a:ea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965960" y="2194560"/>
            <a:ext cx="15240" cy="4572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48839" y="2130552"/>
            <a:ext cx="3538727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成本失控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834639"/>
            <a:ext cx="4727448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传统信息流 CAC 连续 3 年上涨 25%+，2026 美国社交平台 CPM 集体上涨，预算ROI持续走低。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81928" y="1874519"/>
            <a:ext cx="527608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56248" y="2075688"/>
            <a:ext cx="1097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400" b="1">
                <a:solidFill>
                  <a:srgbClr val="B8956A"/>
                </a:solidFill>
                <a:latin typeface="Georgia"/>
                <a:ea typeface="微软雅黑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7808" y="2194560"/>
            <a:ext cx="15240" cy="4572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90688" y="2130552"/>
            <a:ext cx="3538727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效率瓶颈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56248" y="2834639"/>
            <a:ext cx="4727448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人工外呼日均仅 100-200 通，创意产出依赖美工，单条素材制作周期 &gt;24 小时。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206240"/>
            <a:ext cx="527608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7"/>
            <a:ext cx="1097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400" b="1">
                <a:solidFill>
                  <a:srgbClr val="B8956A"/>
                </a:solidFill>
                <a:latin typeface="Georgia"/>
                <a:ea typeface="微软雅黑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4526279"/>
            <a:ext cx="15240" cy="4572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48839" y="4462272"/>
            <a:ext cx="3538727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内容枯竭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66359"/>
            <a:ext cx="4727448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铺货型电商单月需数百张视觉素材，人工产能无法满足多平台、多语种投放需求。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81928" y="4206240"/>
            <a:ext cx="5276088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56248" y="4407407"/>
            <a:ext cx="1097280" cy="6400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400" b="1">
                <a:solidFill>
                  <a:srgbClr val="B8956A"/>
                </a:solidFill>
                <a:latin typeface="Georgia"/>
                <a:ea typeface="微软雅黑"/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7808" y="4526279"/>
            <a:ext cx="15240" cy="45720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90688" y="4462272"/>
            <a:ext cx="3538727" cy="4114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归因黑盒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5166359"/>
            <a:ext cx="4727448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Cookie 时代终结，"我知道广告费浪费了一半但不知道哪一半"仍是行业常态。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2026，三个范式转移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02152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2194560"/>
            <a:ext cx="2862072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600" b="1">
                <a:solidFill>
                  <a:srgbClr val="B8956A"/>
                </a:solidFill>
                <a:latin typeface="Georgia"/>
                <a:ea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960119" y="3154679"/>
            <a:ext cx="7315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3291839"/>
            <a:ext cx="2862072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Agent OS 元年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3977639"/>
            <a:ext cx="2862072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81% 企业计划部署智能体（Google 数据），行业重心从"生成式 AI"转向"Agent 自主执行"，工作流被重新定义。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1874519"/>
            <a:ext cx="3502152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82312" y="2194560"/>
            <a:ext cx="2862072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600" b="1">
                <a:solidFill>
                  <a:srgbClr val="B8956A"/>
                </a:solidFill>
                <a:latin typeface="Georgia"/>
                <a:ea typeface="微软雅黑"/>
              </a:rPr>
              <a:t>02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82312" y="3154679"/>
            <a:ext cx="7315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82312" y="3291839"/>
            <a:ext cx="2862072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GEO 崛起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82312" y="3977639"/>
            <a:ext cx="2862072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AI 生成式搜索成为新渠道，品牌内容被豆包 / ChatGPT / Perplexity 优先抓取，获客成本降低 50-70%，7-15 天见效。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84463" y="1874519"/>
            <a:ext cx="3502152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04503" y="2194560"/>
            <a:ext cx="2862072" cy="868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600" b="1">
                <a:solidFill>
                  <a:srgbClr val="B8956A"/>
                </a:solidFill>
                <a:latin typeface="Georgia"/>
                <a:ea typeface="微软雅黑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04503" y="3154679"/>
            <a:ext cx="7315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04503" y="3291839"/>
            <a:ext cx="2862072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Cookieless 归因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04503" y="3977639"/>
            <a:ext cx="2862072" cy="1645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MTA 让位于 AI 增强的 MMM + Incrementality Testing 组合，隐私优先的因果归因成为新标准。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AI 获客 × AI 营销 双引擎闭环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8778240" cy="841248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874519"/>
            <a:ext cx="13716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  <a:ea typeface="微软雅黑"/>
              </a:rPr>
              <a:t>触达层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2468880" y="2057400"/>
            <a:ext cx="15240" cy="47548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51760" y="1874519"/>
            <a:ext cx="64922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  <a:ea typeface="微软雅黑"/>
              </a:rPr>
              <a:t>智能投放 / GEO / 外呼 / 内容工厂 / 数字人直播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880360"/>
            <a:ext cx="8778240" cy="841248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2880360"/>
            <a:ext cx="13716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  <a:ea typeface="微软雅黑"/>
              </a:rPr>
              <a:t>数据层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68880" y="3063240"/>
            <a:ext cx="15240" cy="47548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51760" y="2880360"/>
            <a:ext cx="64922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  <a:ea typeface="微软雅黑"/>
              </a:rPr>
              <a:t>CDP + 第一方数据 + PETs 隐私计算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886200"/>
            <a:ext cx="8778240" cy="841248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3886200"/>
            <a:ext cx="13716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  <a:ea typeface="微软雅黑"/>
              </a:rPr>
              <a:t>决策层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68880" y="4069080"/>
            <a:ext cx="15240" cy="47548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51760" y="3886200"/>
            <a:ext cx="64922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  <a:ea typeface="微软雅黑"/>
              </a:rPr>
              <a:t>AI Agent 编排 + 多臂老虎机 + 预测模型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92040"/>
            <a:ext cx="8778240" cy="841248"/>
          </a:xfrm>
          <a:prstGeom prst="roundRect">
            <a:avLst>
              <a:gd name="adj" fmla="val 8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19" y="4892040"/>
            <a:ext cx="137160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Georgia"/>
                <a:ea typeface="微软雅黑"/>
              </a:rPr>
              <a:t>度量层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68880" y="5074920"/>
            <a:ext cx="15240" cy="47548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51760" y="4892040"/>
            <a:ext cx="6492240" cy="84124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Arial"/>
                <a:ea typeface="微软雅黑"/>
              </a:rPr>
              <a:t>LightweightMMM + Rockerbox + TTD 归因</a:t>
            </a:r>
          </a:p>
        </p:txBody>
      </p:sp>
      <p:sp>
        <p:nvSpPr>
          <p:cNvPr id="20" name="Up Arrow 19"/>
          <p:cNvSpPr/>
          <p:nvPr/>
        </p:nvSpPr>
        <p:spPr>
          <a:xfrm>
            <a:off x="9784080" y="2011680"/>
            <a:ext cx="1005840" cy="3657600"/>
          </a:xfrm>
          <a:prstGeom prst="upArrow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0" y="5715000"/>
            <a:ext cx="13716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9C7A4E"/>
                </a:solidFill>
                <a:latin typeface="Arial"/>
                <a:ea typeface="微软雅黑"/>
              </a:rPr>
              <a:t>闭环回流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AI 获客四件套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0879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874519"/>
            <a:ext cx="82296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400" b="1">
                <a:solidFill>
                  <a:srgbClr val="B8956A"/>
                </a:solidFill>
                <a:latin typeface="Georgia"/>
                <a:ea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1783080" y="205740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874519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智能投放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69080" y="1874519"/>
            <a:ext cx="512064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Meta Advantage+ / Google PMax / TikTok Smart+ 全自动素材优化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59" y="205740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19" y="1874519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9C7A4E"/>
                </a:solidFill>
                <a:latin typeface="Consolas"/>
                <a:ea typeface="微软雅黑"/>
              </a:rPr>
              <a:t>ROI +32%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063239"/>
            <a:ext cx="1090879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63239"/>
            <a:ext cx="82296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400" b="1">
                <a:solidFill>
                  <a:srgbClr val="B8956A"/>
                </a:solidFill>
                <a:latin typeface="Georgia"/>
                <a:ea typeface="微软雅黑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83080" y="324612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965960" y="3063239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AI GEO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69080" y="3063239"/>
            <a:ext cx="512064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豆包 / 文心一言 / ChatGPT 优先抓取品牌内容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81159" y="324612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18319" y="3063239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9C7A4E"/>
                </a:solidFill>
                <a:latin typeface="Consolas"/>
                <a:ea typeface="微软雅黑"/>
              </a:rPr>
              <a:t>CAC -50~70%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251960"/>
            <a:ext cx="1090879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251960"/>
            <a:ext cx="82296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400" b="1">
                <a:solidFill>
                  <a:srgbClr val="B8956A"/>
                </a:solidFill>
                <a:latin typeface="Georgia"/>
                <a:ea typeface="微软雅黑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83080" y="443484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65960" y="4251960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AI 外呼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69080" y="4251960"/>
            <a:ext cx="512064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日均 3000+ 通（10x），成本 1/10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59" y="443484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18319" y="4251960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9C7A4E"/>
                </a:solidFill>
                <a:latin typeface="Consolas"/>
                <a:ea typeface="微软雅黑"/>
              </a:rPr>
              <a:t>B2B CAC 1120→420 元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40680"/>
            <a:ext cx="10908792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440680"/>
            <a:ext cx="82296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2400" b="1">
                <a:solidFill>
                  <a:srgbClr val="B8956A"/>
                </a:solidFill>
                <a:latin typeface="Georgia"/>
                <a:ea typeface="微软雅黑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83080" y="562356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65960" y="5440680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私域 SCRM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69080" y="5440680"/>
            <a:ext cx="512064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微伴助手 + 企微，全链路客户运营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81159" y="5623560"/>
            <a:ext cx="15240" cy="658368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19" y="5440680"/>
            <a:ext cx="2011680" cy="1024128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300" b="1">
                <a:solidFill>
                  <a:srgbClr val="9C7A4E"/>
                </a:solidFill>
                <a:latin typeface="Consolas"/>
                <a:ea typeface="微软雅黑"/>
              </a:rPr>
              <a:t>85% 企业核心需求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2026 AI 视频生成 Top 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258775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2057400"/>
            <a:ext cx="2130552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Sora 2 Pro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88719" y="2651760"/>
            <a:ext cx="1490472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34640"/>
            <a:ext cx="2039112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物理模拟顶尖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$0.10-0.50/秒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邀请制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Cameo IP 分成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828800"/>
            <a:ext cx="258775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703320" y="2057400"/>
            <a:ext cx="2130552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Veo 3.1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59" y="2651760"/>
            <a:ext cx="1490472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49039" y="2834640"/>
            <a:ext cx="2039112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4K / 60s + 原生音频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SynthID 水印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YouTube 出海首选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Google DeepMind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828800"/>
            <a:ext cx="258775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057400"/>
            <a:ext cx="2130552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可灵 3.0 Pro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2651760"/>
            <a:ext cx="1490472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834640"/>
            <a:ext cx="2039112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1240 ELO 全球登顶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3 万企业用户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原生中文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商用首选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0" y="1828800"/>
            <a:ext cx="2587752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372600" y="2057400"/>
            <a:ext cx="2130552" cy="5029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600" b="1">
                <a:solidFill>
                  <a:srgbClr val="1A1A1F"/>
                </a:solidFill>
                <a:latin typeface="Georgia"/>
                <a:ea typeface="微软雅黑"/>
              </a:rPr>
              <a:t>Seedance 2.0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92640" y="2651760"/>
            <a:ext cx="1490472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2834640"/>
            <a:ext cx="2039112" cy="23774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¥1/秒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日营收 ¥4000 万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抖音生态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· 短剧量产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23560"/>
            <a:ext cx="10881360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9C7A4E"/>
                </a:solidFill>
                <a:latin typeface="Arial"/>
                <a:ea typeface="微软雅黑"/>
              </a:rPr>
              <a:t>企业落地推荐 = 可灵（中文）+ Veo 3.1（出海）+ Wan 2.7（私有化）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AIGC 内容工厂 · 1→1000 变体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029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9C7A4E"/>
                </a:solidFill>
                <a:latin typeface="Georgia"/>
                <a:ea typeface="微软雅黑"/>
              </a:rPr>
              <a:t>技术栈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148840"/>
            <a:ext cx="48463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441448"/>
            <a:ext cx="914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B8956A"/>
                </a:solidFill>
                <a:latin typeface="Georgia"/>
                <a:ea typeface="微软雅黑"/>
              </a:rPr>
              <a:t>图片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423160"/>
            <a:ext cx="3657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GPT-Image-2（$0.006/张，文字 99%）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Firefly 5（商用 indemnity）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Flux 2 Klein（Apache 2.0）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538728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3648456"/>
            <a:ext cx="914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B8956A"/>
                </a:solidFill>
                <a:latin typeface="Georgia"/>
                <a:ea typeface="微软雅黑"/>
              </a:rPr>
              <a:t>文案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83080" y="3630168"/>
            <a:ext cx="3657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GPT-5.2 + Jasper Brand Voice</a:t>
            </a:r>
          </a:p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Claude 4.5（合规审核）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745736"/>
            <a:ext cx="493776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4B89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855464"/>
            <a:ext cx="914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B8956A"/>
                </a:solidFill>
                <a:latin typeface="Georgia"/>
                <a:ea typeface="微软雅黑"/>
              </a:rPr>
              <a:t>编排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83080" y="4837176"/>
            <a:ext cx="36576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Dify / Coze / n8n + MCP 协议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1783080"/>
            <a:ext cx="54864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400" b="1">
                <a:solidFill>
                  <a:srgbClr val="9C7A4E"/>
                </a:solidFill>
                <a:latin typeface="Georgia"/>
                <a:ea typeface="微软雅黑"/>
              </a:rPr>
              <a:t>7 步自动化工作流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80" y="2148840"/>
            <a:ext cx="539496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0" y="2286000"/>
            <a:ext cx="539496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6B6B6B"/>
                </a:solidFill>
                <a:latin typeface="Arial"/>
                <a:ea typeface="微软雅黑"/>
              </a:rPr>
              <a:t>主创意（输入）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0" y="2651760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2651760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LLM 生成 1000 文案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0" y="3090672"/>
            <a:ext cx="3931920" cy="1645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B8956A"/>
                </a:solidFill>
                <a:latin typeface="Arial"/>
                <a:ea typeface="微软雅黑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0" y="3255263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3255263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文生图 1000 张图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3694175"/>
            <a:ext cx="3931920" cy="1645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B8956A"/>
                </a:solidFill>
                <a:latin typeface="Arial"/>
                <a:ea typeface="微软雅黑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0" y="3858768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0" y="3858768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数字人合成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58000" y="4297679"/>
            <a:ext cx="3931920" cy="1645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B8956A"/>
                </a:solidFill>
                <a:latin typeface="Arial"/>
                <a:ea typeface="微软雅黑"/>
              </a:rPr>
              <a:t>▼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0" y="4462272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462272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自动合规审核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0" y="4901183"/>
            <a:ext cx="3931920" cy="1645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B8956A"/>
                </a:solidFill>
                <a:latin typeface="Arial"/>
                <a:ea typeface="微软雅黑"/>
              </a:rPr>
              <a:t>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0" y="5065776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58000" y="5065776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多平台投放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0" y="5504688"/>
            <a:ext cx="3931920" cy="1645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B8956A"/>
                </a:solidFill>
                <a:latin typeface="Arial"/>
                <a:ea typeface="微软雅黑"/>
              </a:rPr>
              <a:t>▼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858000" y="5669280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0" y="5669280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自动 A/B 测试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0" y="6108192"/>
            <a:ext cx="3931920" cy="16459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000" b="1">
                <a:solidFill>
                  <a:srgbClr val="B8956A"/>
                </a:solidFill>
                <a:latin typeface="Arial"/>
                <a:ea typeface="微软雅黑"/>
              </a:rPr>
              <a:t>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858000" y="6272784"/>
            <a:ext cx="3931920" cy="438912"/>
          </a:xfrm>
          <a:prstGeom prst="roundRect">
            <a:avLst>
              <a:gd name="adj" fmla="val 18000"/>
            </a:avLst>
          </a:prstGeom>
          <a:solidFill>
            <a:srgbClr val="F7F4E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858000" y="6272784"/>
            <a:ext cx="3931920" cy="438912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1A1A1F"/>
                </a:solidFill>
                <a:latin typeface="Arial"/>
                <a:ea typeface="微软雅黑"/>
              </a:rPr>
              <a:t>择优加预算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24h 无人带货 · 全球多语言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02152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48839"/>
            <a:ext cx="29535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000" b="1">
                <a:solidFill>
                  <a:srgbClr val="B8956A"/>
                </a:solidFill>
                <a:latin typeface="Georgia"/>
                <a:ea typeface="微软雅黑"/>
              </a:rPr>
              <a:t>国内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2697479"/>
            <a:ext cx="7315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880360"/>
            <a:ext cx="2953512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1A1A1F"/>
                </a:solidFill>
                <a:latin typeface="Arial"/>
                <a:ea typeface="微软雅黑"/>
              </a:rPr>
              <a:t>硅基智能 / 百度曦灵 / 腾讯智影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B6B"/>
                </a:solidFill>
                <a:latin typeface="Arial"/>
                <a:ea typeface="微软雅黑"/>
              </a:rPr>
              <a:t>80 亿市场，电商直播标配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9C7A4E"/>
                </a:solidFill>
                <a:latin typeface="Arial"/>
                <a:ea typeface="微软雅黑"/>
              </a:rPr>
              <a:t>日均 20h+ 不间断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62272" y="1874519"/>
            <a:ext cx="3502152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36592" y="2148839"/>
            <a:ext cx="29535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000" b="1">
                <a:solidFill>
                  <a:srgbClr val="B8956A"/>
                </a:solidFill>
                <a:latin typeface="Georgia"/>
                <a:ea typeface="微软雅黑"/>
              </a:rPr>
              <a:t>海外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36592" y="2697479"/>
            <a:ext cx="7315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2880360"/>
            <a:ext cx="2953512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1A1A1F"/>
                </a:solidFill>
                <a:latin typeface="Arial"/>
                <a:ea typeface="微软雅黑"/>
              </a:rPr>
              <a:t>HeyGen / Synthesia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B6B"/>
                </a:solidFill>
                <a:latin typeface="Arial"/>
                <a:ea typeface="微软雅黑"/>
              </a:rPr>
              <a:t>口型同步精度最高 / 企业级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9C7A4E"/>
                </a:solidFill>
                <a:latin typeface="Arial"/>
                <a:ea typeface="微软雅黑"/>
              </a:rPr>
              <a:t>多语种一键出海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84463" y="1874519"/>
            <a:ext cx="3502152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58784" y="2148839"/>
            <a:ext cx="295351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2000" b="1">
                <a:solidFill>
                  <a:srgbClr val="B8956A"/>
                </a:solidFill>
                <a:latin typeface="Georgia"/>
                <a:ea typeface="微软雅黑"/>
              </a:rPr>
              <a:t>开源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58784" y="2697479"/>
            <a:ext cx="7315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58784" y="2880360"/>
            <a:ext cx="2953512" cy="201168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lnSpc>
                <a:spcPct val="130000"/>
              </a:lnSpc>
              <a:spcAft>
                <a:spcPts val="1000"/>
              </a:spcAft>
            </a:pPr>
            <a:r>
              <a:rPr sz="1300" b="1">
                <a:solidFill>
                  <a:srgbClr val="1A1A1F"/>
                </a:solidFill>
                <a:latin typeface="Arial"/>
                <a:ea typeface="微软雅黑"/>
              </a:rPr>
              <a:t>Heygem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50" b="0">
                <a:solidFill>
                  <a:srgbClr val="6B6B6B"/>
                </a:solidFill>
                <a:latin typeface="Arial"/>
                <a:ea typeface="微软雅黑"/>
              </a:rPr>
              <a:t>本地批量生成，免费</a:t>
            </a:r>
          </a:p>
          <a:p>
            <a:pPr algn="l">
              <a:lnSpc>
                <a:spcPct val="130000"/>
              </a:lnSpc>
            </a:pPr>
            <a:r>
              <a:rPr sz="1150" b="1">
                <a:solidFill>
                  <a:srgbClr val="9C7A4E"/>
                </a:solidFill>
                <a:latin typeface="Arial"/>
                <a:ea typeface="微软雅黑"/>
              </a:rPr>
              <a:t>数据不出域，可控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86400"/>
            <a:ext cx="10908792" cy="640080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9C7A4E"/>
              </a:gs>
              <a:gs pos="100000">
                <a:srgbClr val="B8956A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486400"/>
            <a:ext cx="10908792" cy="6400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微软雅黑"/>
              </a:rPr>
              <a:t>某客户 3 个月：内容产出 +10 倍，单获客成本 -42%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CDP + AI 归因 · 闭环优化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109728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19" y="1920240"/>
            <a:ext cx="1463040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  <a:ea typeface="微软雅黑"/>
              </a:rPr>
              <a:t>数据层</a:t>
            </a:r>
          </a:p>
        </p:txBody>
      </p:sp>
      <p:sp>
        <p:nvSpPr>
          <p:cNvPr id="6" name="Rectangle 5"/>
          <p:cNvSpPr/>
          <p:nvPr/>
        </p:nvSpPr>
        <p:spPr>
          <a:xfrm>
            <a:off x="2514600" y="2121408"/>
            <a:ext cx="15240" cy="694944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97480" y="1920240"/>
            <a:ext cx="8531352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FFFFF"/>
                </a:solidFill>
                <a:latin typeface="Arial"/>
                <a:ea typeface="微软雅黑"/>
              </a:rPr>
              <a:t>ConvertLab / 瓴羊 / 神策 CDP 整合全域数据，构建统一客户画像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46120"/>
            <a:ext cx="10908792" cy="109728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19" y="3246120"/>
            <a:ext cx="1463040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  <a:ea typeface="微软雅黑"/>
              </a:rPr>
              <a:t>模型层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14600" y="3447288"/>
            <a:ext cx="15240" cy="694944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97480" y="3246120"/>
            <a:ext cx="8531352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FFFFF"/>
                </a:solidFill>
                <a:latin typeface="Arial"/>
                <a:ea typeface="微软雅黑"/>
              </a:rPr>
              <a:t>AI 预测生命周期 + 线索评分 + 多臂老虎机择优（Bayesian + CUPED）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572000"/>
            <a:ext cx="10908792" cy="109728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19" y="4572000"/>
            <a:ext cx="1463040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Georgia"/>
                <a:ea typeface="微软雅黑"/>
              </a:rPr>
              <a:t>归因层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4600" y="4773168"/>
            <a:ext cx="15240" cy="694944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80" y="4572000"/>
            <a:ext cx="8531352" cy="1097280"/>
          </a:xfrm>
          <a:prstGeom prst="rect">
            <a:avLst/>
          </a:prstGeom>
          <a:noFill/>
        </p:spPr>
        <p:txBody>
          <a:bodyPr wrap="square" anchor="ctr" lIns="50800" rIns="50800" tIns="25400" bIns="2540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FFFFFF"/>
                </a:solidFill>
                <a:latin typeface="Arial"/>
                <a:ea typeface="微软雅黑"/>
              </a:rPr>
              <a:t>Google LightweightMMM（贝叶斯 MMM）+ Rockerbox（MTA+MMM+Incrementality 三合一）+ TTD（隐私合规）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52160"/>
            <a:ext cx="109087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9C7A4E"/>
                </a:solidFill>
                <a:latin typeface="Arial"/>
                <a:ea typeface="微软雅黑"/>
              </a:rPr>
              <a:t>从"我知道浪费了一半"→ AI 因果归因，数清每一分预算真实贡献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6 个实战项目 · 数据验证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965960"/>
            <a:ext cx="3044952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Consolas"/>
                <a:ea typeface="微软雅黑"/>
              </a:rPr>
              <a:t>PRJ-02-B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304495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1A1A1F"/>
                </a:solidFill>
                <a:latin typeface="Georgia"/>
                <a:ea typeface="微软雅黑"/>
              </a:rPr>
              <a:t>AI 智能外呼获客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2606040"/>
            <a:ext cx="54864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0048"/>
            <a:ext cx="3044952" cy="594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200" b="1">
                <a:solidFill>
                  <a:srgbClr val="B8956A"/>
                </a:solidFill>
                <a:latin typeface="Georgia"/>
                <a:ea typeface="微软雅黑"/>
              </a:rPr>
              <a:t>10x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273552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外呼效率提升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493008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1">
                <a:solidFill>
                  <a:srgbClr val="9C7A4E"/>
                </a:solidFill>
                <a:latin typeface="Arial"/>
                <a:ea typeface="微软雅黑"/>
              </a:rPr>
              <a:t>单获客成本 -65%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1828800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1965960"/>
            <a:ext cx="3044952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Consolas"/>
                <a:ea typeface="微软雅黑"/>
              </a:rPr>
              <a:t>PRJ-02-A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2212848"/>
            <a:ext cx="304495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1A1A1F"/>
                </a:solidFill>
                <a:latin typeface="Georgia"/>
                <a:ea typeface="微软雅黑"/>
              </a:rPr>
              <a:t>AI-GEO 系统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90872" y="2606040"/>
            <a:ext cx="54864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0872" y="2670048"/>
            <a:ext cx="3044952" cy="594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200" b="1">
                <a:solidFill>
                  <a:srgbClr val="B8956A"/>
                </a:solidFill>
                <a:latin typeface="Georgia"/>
                <a:ea typeface="微软雅黑"/>
              </a:rPr>
              <a:t>+220%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90872" y="3273552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AI 引擎曝光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90872" y="3493008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1">
                <a:solidFill>
                  <a:srgbClr val="9C7A4E"/>
                </a:solidFill>
                <a:latin typeface="Arial"/>
                <a:ea typeface="微软雅黑"/>
              </a:rPr>
              <a:t>覆盖 15+ AI 平台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84463" y="1828800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13063" y="1965960"/>
            <a:ext cx="3044952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Consolas"/>
                <a:ea typeface="微软雅黑"/>
              </a:rPr>
              <a:t>PRJ-02-C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13063" y="2212848"/>
            <a:ext cx="304495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1A1A1F"/>
                </a:solidFill>
                <a:latin typeface="Georgia"/>
                <a:ea typeface="微软雅黑"/>
              </a:rPr>
              <a:t>AI 内容营销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13063" y="2606040"/>
            <a:ext cx="54864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513063" y="2670048"/>
            <a:ext cx="3044952" cy="594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200" b="1">
                <a:solidFill>
                  <a:srgbClr val="B8956A"/>
                </a:solidFill>
                <a:latin typeface="Georgia"/>
                <a:ea typeface="微软雅黑"/>
              </a:rPr>
              <a:t>10x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13063" y="3273552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内容产出提升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13063" y="3493008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1">
                <a:solidFill>
                  <a:srgbClr val="9C7A4E"/>
                </a:solidFill>
                <a:latin typeface="Arial"/>
                <a:ea typeface="微软雅黑"/>
              </a:rPr>
              <a:t>单获客成本 -42%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4069079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206240"/>
            <a:ext cx="3044952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Consolas"/>
                <a:ea typeface="微软雅黑"/>
              </a:rPr>
              <a:t>PRJ-01-A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4453127"/>
            <a:ext cx="304495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1A1A1F"/>
                </a:solidFill>
                <a:latin typeface="Georgia"/>
                <a:ea typeface="微软雅黑"/>
              </a:rPr>
              <a:t>AI-CRM 系统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68680" y="4846319"/>
            <a:ext cx="54864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910327"/>
            <a:ext cx="3044952" cy="594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200" b="1">
                <a:solidFill>
                  <a:srgbClr val="B8956A"/>
                </a:solidFill>
                <a:latin typeface="Georgia"/>
                <a:ea typeface="微软雅黑"/>
              </a:rPr>
              <a:t>+38%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513831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线索转化率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733288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1">
                <a:solidFill>
                  <a:srgbClr val="9C7A4E"/>
                </a:solidFill>
                <a:latin typeface="Arial"/>
                <a:ea typeface="微软雅黑"/>
              </a:rPr>
              <a:t>流失率 -45%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62272" y="4069079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90872" y="4206240"/>
            <a:ext cx="3044952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Consolas"/>
                <a:ea typeface="微软雅黑"/>
              </a:rPr>
              <a:t>PRJ-03-B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90872" y="4453127"/>
            <a:ext cx="304495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1A1A1F"/>
                </a:solidFill>
                <a:latin typeface="Georgia"/>
                <a:ea typeface="微软雅黑"/>
              </a:rPr>
              <a:t>AI-Agent 系统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690872" y="4846319"/>
            <a:ext cx="54864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90872" y="4910327"/>
            <a:ext cx="3044952" cy="594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200" b="1">
                <a:solidFill>
                  <a:srgbClr val="B8956A"/>
                </a:solidFill>
                <a:latin typeface="Georgia"/>
                <a:ea typeface="微软雅黑"/>
              </a:rPr>
              <a:t>87%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90872" y="5513831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任务成功率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90872" y="5733288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1">
                <a:solidFill>
                  <a:srgbClr val="9C7A4E"/>
                </a:solidFill>
                <a:latin typeface="Arial"/>
                <a:ea typeface="微软雅黑"/>
              </a:rPr>
              <a:t>12+ 智能体协同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84463" y="4069079"/>
            <a:ext cx="3502152" cy="19659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513063" y="4206240"/>
            <a:ext cx="3044952" cy="27432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00" b="1">
                <a:solidFill>
                  <a:srgbClr val="6B6B6B"/>
                </a:solidFill>
                <a:latin typeface="Consolas"/>
                <a:ea typeface="微软雅黑"/>
              </a:rPr>
              <a:t>PRJ-04-A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13063" y="4453127"/>
            <a:ext cx="3044952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1A1A1F"/>
                </a:solidFill>
                <a:latin typeface="Georgia"/>
                <a:ea typeface="微软雅黑"/>
              </a:rPr>
              <a:t>多语言营销引擎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513063" y="4846319"/>
            <a:ext cx="54864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513063" y="4910327"/>
            <a:ext cx="3044952" cy="5943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200" b="1">
                <a:solidFill>
                  <a:srgbClr val="B8956A"/>
                </a:solidFill>
                <a:latin typeface="Georgia"/>
                <a:ea typeface="微软雅黑"/>
              </a:rPr>
              <a:t>3.8x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13063" y="5513831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0">
                <a:solidFill>
                  <a:srgbClr val="6B6B6B"/>
                </a:solidFill>
                <a:latin typeface="Arial"/>
                <a:ea typeface="微软雅黑"/>
              </a:rPr>
              <a:t>ROAS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13063" y="5733288"/>
            <a:ext cx="3044952" cy="2286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050" b="1">
                <a:solidFill>
                  <a:srgbClr val="9C7A4E"/>
                </a:solidFill>
                <a:latin typeface="Arial"/>
                <a:ea typeface="微软雅黑"/>
              </a:rPr>
              <a:t>30+ 语种 · CTR +45%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90 天落地计划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6587" y="2011680"/>
            <a:ext cx="2514600" cy="3108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9467" y="2286000"/>
            <a:ext cx="2148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D4B896"/>
                </a:solidFill>
                <a:latin typeface="Consolas"/>
                <a:ea typeface="微软雅黑"/>
              </a:rPr>
              <a:t>Day 1-15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9467" y="2651760"/>
            <a:ext cx="21488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  <a:ea typeface="微软雅黑"/>
              </a:rPr>
              <a:t>诊断</a:t>
            </a:r>
          </a:p>
        </p:txBody>
      </p:sp>
      <p:sp>
        <p:nvSpPr>
          <p:cNvPr id="7" name="Rectangle 6"/>
          <p:cNvSpPr/>
          <p:nvPr/>
        </p:nvSpPr>
        <p:spPr>
          <a:xfrm>
            <a:off x="1478127" y="3291840"/>
            <a:ext cx="731520" cy="1524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0907" y="3474720"/>
            <a:ext cx="196596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业务审计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数据基础设施评估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KPI 体系定义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119475" y="3429000"/>
            <a:ext cx="283464" cy="274320"/>
          </a:xfrm>
          <a:prstGeom prst="rightArrow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421227" y="2011680"/>
            <a:ext cx="2514600" cy="3108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04107" y="2286000"/>
            <a:ext cx="2148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D4B896"/>
                </a:solidFill>
                <a:latin typeface="Consolas"/>
                <a:ea typeface="微软雅黑"/>
              </a:rPr>
              <a:t>Day 16-45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4107" y="2651760"/>
            <a:ext cx="21488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  <a:ea typeface="微软雅黑"/>
              </a:rPr>
              <a:t>试点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12767" y="3291840"/>
            <a:ext cx="731520" cy="1524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95547" y="3474720"/>
            <a:ext cx="196596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AI-GEO 上线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AI 外呼 MVP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内容工厂搭建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54115" y="3429000"/>
            <a:ext cx="283464" cy="274320"/>
          </a:xfrm>
          <a:prstGeom prst="rightArrow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5867" y="2011680"/>
            <a:ext cx="2514600" cy="3108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8747" y="2286000"/>
            <a:ext cx="2148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D4B896"/>
                </a:solidFill>
                <a:latin typeface="Consolas"/>
                <a:ea typeface="微软雅黑"/>
              </a:rPr>
              <a:t>Day 46-75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8747" y="2651760"/>
            <a:ext cx="21488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  <a:ea typeface="微软雅黑"/>
              </a:rPr>
              <a:t>扩展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47407" y="3291840"/>
            <a:ext cx="731520" cy="1524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30187" y="3474720"/>
            <a:ext cx="196596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数字人直播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CDP 接入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归因系统部署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788755" y="3429000"/>
            <a:ext cx="283464" cy="274320"/>
          </a:xfrm>
          <a:prstGeom prst="rightArrow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090507" y="2011680"/>
            <a:ext cx="2514600" cy="310896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B8956A"/>
              </a:gs>
              <a:gs pos="100000">
                <a:srgbClr val="9C7A4E"/>
              </a:gs>
            </a:gsLst>
            <a:lin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73387" y="2286000"/>
            <a:ext cx="2148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200" b="1">
                <a:solidFill>
                  <a:srgbClr val="D4B896"/>
                </a:solidFill>
                <a:latin typeface="Consolas"/>
                <a:ea typeface="微软雅黑"/>
              </a:rPr>
              <a:t>Day 76-90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73387" y="2651760"/>
            <a:ext cx="2148840" cy="5486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Georgia"/>
                <a:ea typeface="微软雅黑"/>
              </a:rPr>
              <a:t>优化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82047" y="3291840"/>
            <a:ext cx="731520" cy="15240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4827" y="3474720"/>
            <a:ext cx="1965960" cy="1463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多臂老虎机择优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MMM 闭环</a:t>
            </a:r>
          </a:p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FFFFFF"/>
                </a:solidFill>
                <a:latin typeface="Arial"/>
                <a:ea typeface="微软雅黑"/>
              </a:rPr>
              <a:t>规模化放量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4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66928"/>
            <a:ext cx="4572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3000" b="1">
                <a:solidFill>
                  <a:srgbClr val="1A1A1F"/>
                </a:solidFill>
                <a:latin typeface="Georgia"/>
                <a:ea typeface="微软雅黑"/>
              </a:rPr>
              <a:t>预期回报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3502152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3136392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600" b="1">
                <a:solidFill>
                  <a:srgbClr val="B8956A"/>
                </a:solidFill>
                <a:latin typeface="Georgia"/>
                <a:ea typeface="微软雅黑"/>
              </a:rPr>
              <a:t>40-65%</a:t>
            </a:r>
          </a:p>
        </p:txBody>
      </p:sp>
      <p:sp>
        <p:nvSpPr>
          <p:cNvPr id="6" name="Rectangle 5"/>
          <p:cNvSpPr/>
          <p:nvPr/>
        </p:nvSpPr>
        <p:spPr>
          <a:xfrm>
            <a:off x="1933956" y="3520440"/>
            <a:ext cx="9144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3657600"/>
            <a:ext cx="31363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CAC 降低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2953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AI 外呼 + GEO + 内容工厂协同，全渠道获客成本系统性下降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62272" y="1920240"/>
            <a:ext cx="3502152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45152" y="2377440"/>
            <a:ext cx="3136392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600" b="1">
                <a:solidFill>
                  <a:srgbClr val="B8956A"/>
                </a:solidFill>
                <a:latin typeface="Georgia"/>
                <a:ea typeface="微软雅黑"/>
              </a:rPr>
              <a:t>10x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56148" y="3520440"/>
            <a:ext cx="9144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45152" y="3657600"/>
            <a:ext cx="31363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内容产能提升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4251960"/>
            <a:ext cx="2953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AIGC 工厂 + 数字人直播，从 1 条到 1000 条变体自动化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84463" y="1920240"/>
            <a:ext cx="3502152" cy="329184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B895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67343" y="2377440"/>
            <a:ext cx="3136392" cy="10058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4600" b="1">
                <a:solidFill>
                  <a:srgbClr val="B8956A"/>
                </a:solidFill>
                <a:latin typeface="Georgia"/>
                <a:ea typeface="微软雅黑"/>
              </a:rPr>
              <a:t>1.8-3.8x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578339" y="3520440"/>
            <a:ext cx="91440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3" y="3657600"/>
            <a:ext cx="3136392" cy="4572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800" b="1">
                <a:solidFill>
                  <a:srgbClr val="1A1A1F"/>
                </a:solidFill>
                <a:latin typeface="Georgia"/>
                <a:ea typeface="微软雅黑"/>
              </a:rPr>
              <a:t>ROAS 提升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58784" y="4251960"/>
            <a:ext cx="2953512" cy="8229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>
              <a:lnSpc>
                <a:spcPct val="135000"/>
              </a:lnSpc>
            </a:pPr>
            <a:r>
              <a:rPr sz="1200" b="0">
                <a:solidFill>
                  <a:srgbClr val="6B6B6B"/>
                </a:solidFill>
                <a:latin typeface="Arial"/>
                <a:ea typeface="微软雅黑"/>
              </a:rPr>
              <a:t>多语言出海 + 智能投放优化，实测案例验证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52160"/>
            <a:ext cx="10908792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0">
                <a:solidFill>
                  <a:srgbClr val="6B6B6B"/>
                </a:solidFill>
                <a:latin typeface="Arial"/>
                <a:ea typeface="微软雅黑"/>
              </a:rPr>
              <a:t>基于无界智源 6 个落地项目实测数据区间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914400"/>
            <a:ext cx="731520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200" b="1">
                <a:solidFill>
                  <a:srgbClr val="B8956A"/>
                </a:solidFill>
                <a:latin typeface="Arial"/>
                <a:ea typeface="微软雅黑"/>
              </a:rPr>
              <a:t>CONTACT · WUJIE AI</a:t>
            </a:r>
          </a:p>
        </p:txBody>
      </p:sp>
      <p:sp>
        <p:nvSpPr>
          <p:cNvPr id="3" name="Rectangle 2"/>
          <p:cNvSpPr/>
          <p:nvPr/>
        </p:nvSpPr>
        <p:spPr>
          <a:xfrm>
            <a:off x="868680" y="1325880"/>
            <a:ext cx="118872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554480"/>
            <a:ext cx="10058400" cy="9144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4000" b="1">
                <a:solidFill>
                  <a:srgbClr val="B8956A"/>
                </a:solidFill>
                <a:latin typeface="Georgia"/>
                <a:ea typeface="微软雅黑"/>
              </a:rPr>
              <a:t>一起把 AI 变成生产力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926080"/>
            <a:ext cx="5029200" cy="228600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>
              <a:spcAft>
                <a:spcPts val="1200"/>
              </a:spcAft>
            </a:pPr>
            <a:r>
              <a:rPr sz="2200" b="1">
                <a:solidFill>
                  <a:srgbClr val="F7F4EF"/>
                </a:solidFill>
                <a:latin typeface="Georgia"/>
                <a:ea typeface="微软雅黑"/>
              </a:rPr>
              <a:t>无界智源 · Wujie AI</a:t>
            </a:r>
          </a:p>
          <a:p>
            <a:pPr algn="l">
              <a:spcAft>
                <a:spcPts val="1800"/>
              </a:spcAft>
            </a:pPr>
            <a:r>
              <a:rPr sz="1500" b="0">
                <a:solidFill>
                  <a:srgbClr val="D4B896"/>
                </a:solidFill>
                <a:latin typeface="Arial"/>
                <a:ea typeface="微软雅黑"/>
              </a:rPr>
              <a:t>让智能，工程化落地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6B6B6B"/>
                </a:solidFill>
                <a:latin typeface="Arial"/>
                <a:ea typeface="微软雅黑"/>
              </a:rPr>
              <a:t>20+ 模型  /  13 项目  /  4 大行业方向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2926080"/>
            <a:ext cx="15240" cy="2743200"/>
          </a:xfrm>
          <a:prstGeom prst="rect">
            <a:avLst/>
          </a:prstGeom>
          <a:solidFill>
            <a:srgbClr val="9C7A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0" y="29260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>
                <a:solidFill>
                  <a:srgbClr val="B8956A"/>
                </a:solidFill>
                <a:latin typeface="Arial"/>
                <a:ea typeface="微软雅黑"/>
              </a:rPr>
              <a:t>姓名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2926080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1">
                <a:solidFill>
                  <a:srgbClr val="F7F4EF"/>
                </a:solidFill>
                <a:latin typeface="Arial"/>
                <a:ea typeface="微软雅黑"/>
              </a:rPr>
              <a:t>吴杰 · AI 工程师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3832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>
                <a:solidFill>
                  <a:srgbClr val="B8956A"/>
                </a:solidFill>
                <a:latin typeface="Arial"/>
                <a:ea typeface="微软雅黑"/>
              </a:rPr>
              <a:t>电话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0" y="3383280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7F4EF"/>
                </a:solidFill>
                <a:latin typeface="Consolas"/>
                <a:ea typeface="微软雅黑"/>
              </a:rPr>
              <a:t>13798699236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38404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>
                <a:solidFill>
                  <a:srgbClr val="B8956A"/>
                </a:solidFill>
                <a:latin typeface="Arial"/>
                <a:ea typeface="微软雅黑"/>
              </a:rPr>
              <a:t>微信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3840480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7F4EF"/>
                </a:solidFill>
                <a:latin typeface="Consolas"/>
                <a:ea typeface="微软雅黑"/>
              </a:rPr>
              <a:t>Hdoudoucity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42976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>
                <a:solidFill>
                  <a:srgbClr val="B8956A"/>
                </a:solidFill>
                <a:latin typeface="Arial"/>
                <a:ea typeface="微软雅黑"/>
              </a:rPr>
              <a:t>邮箱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4297680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7F4EF"/>
                </a:solidFill>
                <a:latin typeface="Consolas"/>
                <a:ea typeface="微软雅黑"/>
              </a:rPr>
              <a:t>1277454461@QQ.COM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4754880"/>
            <a:ext cx="100584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100" b="1">
                <a:solidFill>
                  <a:srgbClr val="B8956A"/>
                </a:solidFill>
                <a:latin typeface="Arial"/>
                <a:ea typeface="微软雅黑"/>
              </a:rPr>
              <a:t>官网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0" y="4754880"/>
            <a:ext cx="3657600" cy="32004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l"/>
            <a:r>
              <a:rPr sz="1300" b="0">
                <a:solidFill>
                  <a:srgbClr val="F7F4EF"/>
                </a:solidFill>
                <a:latin typeface="Arial"/>
                <a:ea typeface="微软雅黑"/>
              </a:rPr>
              <a:t>43965555.github.io/wujie-ai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6172200"/>
            <a:ext cx="10424160" cy="15240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6263640"/>
            <a:ext cx="10424160" cy="365760"/>
          </a:xfrm>
          <a:prstGeom prst="rect">
            <a:avLst/>
          </a:prstGeom>
          <a:noFill/>
        </p:spPr>
        <p:txBody>
          <a:bodyPr wrap="square" anchor="t" lIns="50800" rIns="50800" tIns="25400" bIns="25400">
            <a:spAutoFit/>
          </a:bodyPr>
          <a:lstStyle/>
          <a:p>
            <a:pPr algn="ctr"/>
            <a:r>
              <a:rPr sz="1100" b="1">
                <a:solidFill>
                  <a:srgbClr val="D4B896"/>
                </a:solidFill>
                <a:latin typeface="Arial"/>
                <a:ea typeface="微软雅黑"/>
              </a:rPr>
              <a:t>WUJIE AI · 2026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32720" y="914400"/>
            <a:ext cx="1280160" cy="82296"/>
          </a:xfrm>
          <a:prstGeom prst="rect">
            <a:avLst/>
          </a:prstGeom>
          <a:solidFill>
            <a:srgbClr val="B895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881360" y="1097280"/>
            <a:ext cx="731520" cy="82296"/>
          </a:xfrm>
          <a:prstGeom prst="rect">
            <a:avLst/>
          </a:prstGeom>
          <a:solidFill>
            <a:srgbClr val="D4B8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