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731520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D4B896"/>
                </a:solidFill>
                <a:latin typeface="Georgia"/>
                <a:ea typeface="微软雅黑"/>
                <a:cs typeface="微软雅黑"/>
              </a:rPr>
              <a:t>WUJIE AI · INTELLIGENCE ENGINEERED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822960" y="1280160"/>
            <a:ext cx="1463040" cy="0"/>
          </a:xfrm>
          <a:prstGeom prst="line">
            <a:avLst/>
          </a:prstGeom>
          <a:ln w="1524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2377440"/>
            <a:ext cx="105156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5200" b="1">
                <a:latin typeface="Georgia"/>
                <a:ea typeface="微软雅黑"/>
                <a:cs typeface="微软雅黑"/>
                <a:gradFill>
                  <a:gsLst>
                    <a:gs pos="0">
                      <a:srgbClr val="B8956A"/>
                    </a:gs>
                    <a:gs pos="50000">
                      <a:srgbClr val="D4B896"/>
                    </a:gs>
                    <a:gs pos="100000">
                      <a:srgbClr val="9C7A4E"/>
                    </a:gs>
                  </a:gsLst>
                  <a:lin ang="0" scaled="1"/>
                </a:gradFill>
              </a:rPr>
              <a:t>无界智源 × AI 获客营销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31920"/>
            <a:ext cx="10058400" cy="6400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0">
                <a:solidFill>
                  <a:srgbClr val="FFFFFF"/>
                </a:solidFill>
                <a:latin typeface="Georgia"/>
                <a:ea typeface="微软雅黑"/>
                <a:cs typeface="微软雅黑"/>
              </a:rPr>
              <a:t>2026 前沿方案总结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22960" y="5852160"/>
            <a:ext cx="10515600" cy="0"/>
          </a:xfrm>
          <a:prstGeom prst="line">
            <a:avLst/>
          </a:prstGeom>
          <a:ln w="1524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D4B896"/>
                </a:solidFill>
                <a:latin typeface="Georgia"/>
                <a:ea typeface="微软雅黑"/>
                <a:cs typeface="微软雅黑"/>
              </a:rPr>
              <a:t>2026.07 · 吴杰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52560" y="5989320"/>
            <a:ext cx="228600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1000" b="0">
                <a:solidFill>
                  <a:srgbClr val="AAAAAA"/>
                </a:solidFill>
                <a:latin typeface="Consolas"/>
                <a:ea typeface="微软雅黑"/>
                <a:cs typeface="微软雅黑"/>
              </a:rPr>
              <a:t>01 / 13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9C7A4E"/>
                </a:solidFill>
                <a:latin typeface="Georgia"/>
                <a:ea typeface="微软雅黑"/>
                <a:cs typeface="微软雅黑"/>
              </a:rPr>
              <a:t>WUJIE AI · 行业洞察 2026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713232"/>
            <a:ext cx="1463040" cy="0"/>
          </a:xfrm>
          <a:prstGeom prst="line">
            <a:avLst/>
          </a:prstGeom>
          <a:ln w="1524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400" b="1">
                <a:latin typeface="Georgia"/>
                <a:ea typeface="微软雅黑"/>
                <a:cs typeface="微软雅黑"/>
                <a:gradFill>
                  <a:gsLst>
                    <a:gs pos="0">
                      <a:srgbClr val="B8956A"/>
                    </a:gs>
                    <a:gs pos="50000">
                      <a:srgbClr val="D4B896"/>
                    </a:gs>
                    <a:gs pos="100000">
                      <a:srgbClr val="9C7A4E"/>
                    </a:gs>
                  </a:gsLst>
                  <a:lin ang="0" scaled="1"/>
                </a:gradFill>
              </a:rPr>
              <a:t>传统获客的四重困境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1097280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666666"/>
                </a:solidFill>
                <a:latin typeface="Arial"/>
                <a:ea typeface="微软雅黑"/>
                <a:cs typeface="微软雅黑"/>
              </a:rPr>
              <a:t>来自 2026 行业调研 · 真实数据，每一组数字都击中甲方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57400"/>
            <a:ext cx="5349240" cy="2240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4B896"/>
            </a:solidFill>
          </a:ln>
          <a:effectLst>
            <a:outerShdw blurRad="60000" dist="20000" dir="5400000" rotWithShape="0">
              <a:srgbClr val="1A1A1F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194560"/>
            <a:ext cx="1097280" cy="6400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800" b="1">
                <a:solidFill>
                  <a:srgbClr val="B8956A"/>
                </a:solidFill>
                <a:latin typeface="Georgia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2258568"/>
            <a:ext cx="3977639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222222"/>
                </a:solidFill>
                <a:latin typeface="Georgia"/>
                <a:ea typeface="微软雅黑"/>
                <a:cs typeface="微软雅黑"/>
              </a:rPr>
              <a:t>成本失控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22959" y="2834640"/>
            <a:ext cx="4800601" cy="0"/>
          </a:xfrm>
          <a:prstGeom prst="line">
            <a:avLst/>
          </a:prstGeom>
          <a:ln w="7620">
            <a:solidFill>
              <a:srgbClr val="D4B8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822959" y="2926080"/>
            <a:ext cx="4800600" cy="1234440"/>
          </a:xfrm>
          <a:prstGeom prst="rect">
            <a:avLst/>
          </a:prstGeom>
          <a:noFill/>
        </p:spPr>
        <p:txBody>
          <a:bodyPr wrap="square" lIns="50800" rIns="50800" tIns="50800" bIns="50800" anchor="t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100" b="0">
                <a:solidFill>
                  <a:srgbClr val="222222"/>
                </a:solidFill>
                <a:latin typeface="Arial"/>
                <a:ea typeface="微软雅黑"/>
                <a:cs typeface="微软雅黑"/>
              </a:rPr>
              <a:t>ToB 企业 CAC 近三年上涨 </a:t>
            </a:r>
            <a:r>
              <a:rPr sz="1300" b="1">
                <a:solidFill>
                  <a:srgbClr val="9C7A4E"/>
                </a:solidFill>
                <a:latin typeface="Consolas"/>
                <a:ea typeface="微软雅黑"/>
                <a:cs typeface="微软雅黑"/>
              </a:rPr>
              <a:t>40%-60%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100" b="0">
                <a:solidFill>
                  <a:srgbClr val="222222"/>
                </a:solidFill>
                <a:latin typeface="Arial"/>
                <a:ea typeface="微软雅黑"/>
                <a:cs typeface="微软雅黑"/>
              </a:rPr>
              <a:t>全球跨行业 CAC 同比 +45%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100" b="0">
                <a:solidFill>
                  <a:srgbClr val="222222"/>
                </a:solidFill>
                <a:latin typeface="Arial"/>
                <a:ea typeface="微软雅黑"/>
                <a:cs typeface="微软雅黑"/>
              </a:rPr>
              <a:t>82% 客户 10 分钟未回应即流失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100" b="1">
                <a:solidFill>
                  <a:srgbClr val="666666"/>
                </a:solidFill>
                <a:latin typeface="Arial"/>
                <a:ea typeface="微软雅黑"/>
                <a:cs typeface="微软雅黑"/>
              </a:rPr>
              <a:t>"投钱没转化、不投没客户" 死循环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2057400"/>
            <a:ext cx="5349240" cy="2240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4B896"/>
            </a:solidFill>
          </a:ln>
          <a:effectLst>
            <a:outerShdw blurRad="60000" dist="20000" dir="5400000" rotWithShape="0">
              <a:srgbClr val="1A1A1F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194560"/>
            <a:ext cx="1097280" cy="6400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800" b="1">
                <a:solidFill>
                  <a:srgbClr val="B8956A"/>
                </a:solidFill>
                <a:latin typeface="Georgia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52360" y="2258568"/>
            <a:ext cx="3977639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222222"/>
                </a:solidFill>
                <a:latin typeface="Georgia"/>
                <a:ea typeface="微软雅黑"/>
                <a:cs typeface="微软雅黑"/>
              </a:rPr>
              <a:t>效率瓶颈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537959" y="2834640"/>
            <a:ext cx="4800600" cy="0"/>
          </a:xfrm>
          <a:prstGeom prst="line">
            <a:avLst/>
          </a:prstGeom>
          <a:ln w="7620">
            <a:solidFill>
              <a:srgbClr val="D4B8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537959" y="2926080"/>
            <a:ext cx="4800600" cy="1234440"/>
          </a:xfrm>
          <a:prstGeom prst="rect">
            <a:avLst/>
          </a:prstGeom>
          <a:noFill/>
        </p:spPr>
        <p:txBody>
          <a:bodyPr wrap="square" lIns="50800" rIns="50800" tIns="50800" bIns="50800" anchor="t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100" b="0">
                <a:solidFill>
                  <a:srgbClr val="222222"/>
                </a:solidFill>
                <a:latin typeface="Arial"/>
                <a:ea typeface="微软雅黑"/>
                <a:cs typeface="微软雅黑"/>
              </a:rPr>
              <a:t>人工外呼日均仅 </a:t>
            </a:r>
            <a:r>
              <a:rPr sz="1300" b="1">
                <a:solidFill>
                  <a:srgbClr val="9C7A4E"/>
                </a:solidFill>
                <a:latin typeface="Consolas"/>
                <a:ea typeface="微软雅黑"/>
                <a:cs typeface="微软雅黑"/>
              </a:rPr>
              <a:t>100-200 通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100" b="0">
                <a:solidFill>
                  <a:srgbClr val="222222"/>
                </a:solidFill>
                <a:latin typeface="Arial"/>
                <a:ea typeface="微软雅黑"/>
                <a:cs typeface="微软雅黑"/>
              </a:rPr>
              <a:t>头部 MCN 内容产出效率下降 35%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100" b="0">
                <a:solidFill>
                  <a:srgbClr val="222222"/>
                </a:solidFill>
                <a:latin typeface="Arial"/>
                <a:ea typeface="微软雅黑"/>
                <a:cs typeface="微软雅黑"/>
              </a:rPr>
              <a:t>传统图文阅读时长仅 1.2 秒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100" b="1">
                <a:solidFill>
                  <a:srgbClr val="666666"/>
                </a:solidFill>
                <a:latin typeface="Arial"/>
                <a:ea typeface="微软雅黑"/>
                <a:cs typeface="微软雅黑"/>
              </a:rPr>
              <a:t>短视频完播率不足 45%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434840"/>
            <a:ext cx="5349240" cy="2240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4B896"/>
            </a:solidFill>
          </a:ln>
          <a:effectLst>
            <a:outerShdw blurRad="60000" dist="20000" dir="5400000" rotWithShape="0">
              <a:srgbClr val="1A1A1F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572000"/>
            <a:ext cx="1097280" cy="6400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800" b="1">
                <a:solidFill>
                  <a:srgbClr val="B8956A"/>
                </a:solidFill>
                <a:latin typeface="Georgia"/>
                <a:ea typeface="微软雅黑"/>
                <a:cs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37360" y="4636007"/>
            <a:ext cx="3977639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222222"/>
                </a:solidFill>
                <a:latin typeface="Georgia"/>
                <a:ea typeface="微软雅黑"/>
                <a:cs typeface="微软雅黑"/>
              </a:rPr>
              <a:t>内容枯竭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22959" y="5212079"/>
            <a:ext cx="4800601" cy="0"/>
          </a:xfrm>
          <a:prstGeom prst="line">
            <a:avLst/>
          </a:prstGeom>
          <a:ln w="7620">
            <a:solidFill>
              <a:srgbClr val="D4B8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22959" y="5303520"/>
            <a:ext cx="4800600" cy="1234440"/>
          </a:xfrm>
          <a:prstGeom prst="rect">
            <a:avLst/>
          </a:prstGeom>
          <a:noFill/>
        </p:spPr>
        <p:txBody>
          <a:bodyPr wrap="square" lIns="50800" rIns="50800" tIns="50800" bIns="50800" anchor="t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100" b="0">
                <a:solidFill>
                  <a:srgbClr val="222222"/>
                </a:solidFill>
                <a:latin typeface="Arial"/>
                <a:ea typeface="微软雅黑"/>
                <a:cs typeface="微软雅黑"/>
              </a:rPr>
              <a:t>铺货电商单月需数百张视觉素材</a:t>
            </a:r>
            <a:r>
              <a:rPr sz="1300" b="1">
                <a:solidFill>
                  <a:srgbClr val="9C7A4E"/>
                </a:solidFill>
                <a:latin typeface="Consolas"/>
                <a:ea typeface="微软雅黑"/>
                <a:cs typeface="微软雅黑"/>
              </a:rPr>
              <a:t>ROI 卡在 1.2 生死线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100" b="0">
                <a:solidFill>
                  <a:srgbClr val="222222"/>
                </a:solidFill>
                <a:latin typeface="Arial"/>
                <a:ea typeface="微软雅黑"/>
                <a:cs typeface="微软雅黑"/>
              </a:rPr>
              <a:t>70% 跨境卖家困在"广告越烧越多"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100" b="0">
                <a:solidFill>
                  <a:srgbClr val="222222"/>
                </a:solidFill>
                <a:latin typeface="Arial"/>
                <a:ea typeface="微软雅黑"/>
                <a:cs typeface="微软雅黑"/>
              </a:rPr>
              <a:t>美工单条素材 &gt;24 小时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100" b="1">
                <a:solidFill>
                  <a:srgbClr val="666666"/>
                </a:solidFill>
                <a:latin typeface="Arial"/>
                <a:ea typeface="微软雅黑"/>
                <a:cs typeface="微软雅黑"/>
              </a:rPr>
              <a:t>产能跟不上新 SKU 上架节奏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63640" y="4434840"/>
            <a:ext cx="5349240" cy="2240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4B896"/>
            </a:solidFill>
          </a:ln>
          <a:effectLst>
            <a:outerShdw blurRad="60000" dist="20000" dir="5400000" rotWithShape="0">
              <a:srgbClr val="1A1A1F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0" y="4572000"/>
            <a:ext cx="1097280" cy="6400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800" b="1">
                <a:solidFill>
                  <a:srgbClr val="B8956A"/>
                </a:solidFill>
                <a:latin typeface="Georgia"/>
                <a:ea typeface="微软雅黑"/>
                <a:cs typeface="微软雅黑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52360" y="4636007"/>
            <a:ext cx="3977639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222222"/>
                </a:solidFill>
                <a:latin typeface="Georgia"/>
                <a:ea typeface="微软雅黑"/>
                <a:cs typeface="微软雅黑"/>
              </a:rPr>
              <a:t>归因黑盒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537959" y="5212079"/>
            <a:ext cx="4800600" cy="0"/>
          </a:xfrm>
          <a:prstGeom prst="line">
            <a:avLst/>
          </a:prstGeom>
          <a:ln w="7620">
            <a:solidFill>
              <a:srgbClr val="D4B8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537959" y="5303520"/>
            <a:ext cx="4800600" cy="1234440"/>
          </a:xfrm>
          <a:prstGeom prst="rect">
            <a:avLst/>
          </a:prstGeom>
          <a:noFill/>
        </p:spPr>
        <p:txBody>
          <a:bodyPr wrap="square" lIns="50800" rIns="50800" tIns="50800" bIns="50800" anchor="t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100" b="0">
                <a:solidFill>
                  <a:srgbClr val="222222"/>
                </a:solidFill>
                <a:latin typeface="Arial"/>
                <a:ea typeface="微软雅黑"/>
                <a:cs typeface="微软雅黑"/>
              </a:rPr>
              <a:t>广告主认为预算浪费在 "黑盒投放"</a:t>
            </a:r>
            <a:r>
              <a:rPr sz="1400" b="1">
                <a:solidFill>
                  <a:srgbClr val="9C7A4E"/>
                </a:solidFill>
                <a:latin typeface="Consolas"/>
                <a:ea typeface="微软雅黑"/>
                <a:cs typeface="微软雅黑"/>
              </a:rPr>
              <a:t>60%+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100" b="0">
                <a:solidFill>
                  <a:srgbClr val="222222"/>
                </a:solidFill>
                <a:latin typeface="Arial"/>
                <a:ea typeface="微软雅黑"/>
                <a:cs typeface="微软雅黑"/>
              </a:rPr>
              <a:t>某 4A 巨头模型滞后，快消 ROI 暴跌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100" b="0">
                <a:solidFill>
                  <a:srgbClr val="222222"/>
                </a:solidFill>
                <a:latin typeface="Arial"/>
                <a:ea typeface="微软雅黑"/>
                <a:cs typeface="微软雅黑"/>
              </a:rPr>
              <a:t>2026 Cookie 完全失效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100" b="1">
                <a:solidFill>
                  <a:srgbClr val="666666"/>
                </a:solidFill>
                <a:latin typeface="Arial"/>
                <a:ea typeface="微软雅黑"/>
                <a:cs typeface="微软雅黑"/>
              </a:rPr>
              <a:t>"知道浪费一半，不知哪一半"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7620">
            <a:solidFill>
              <a:srgbClr val="9C7A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666666"/>
                </a:solidFill>
                <a:latin typeface="Georgia"/>
                <a:ea typeface="微软雅黑"/>
                <a:cs typeface="微软雅黑"/>
              </a:rPr>
              <a:t>WUJIE AI · INTELLIGENCE ENGINEERED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92640" y="6492240"/>
            <a:ext cx="1947672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666666"/>
                </a:solidFill>
                <a:latin typeface="Consolas"/>
                <a:ea typeface="微软雅黑"/>
                <a:cs typeface="微软雅黑"/>
              </a:rPr>
              <a:t>02 / 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9C7A4E"/>
                </a:solidFill>
                <a:latin typeface="Georgia"/>
                <a:ea typeface="微软雅黑"/>
                <a:cs typeface="微软雅黑"/>
              </a:rPr>
              <a:t>WUJIE AI · 落地鸿沟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713232"/>
            <a:ext cx="1463040" cy="0"/>
          </a:xfrm>
          <a:prstGeom prst="line">
            <a:avLst/>
          </a:prstGeom>
          <a:ln w="1524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868680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latin typeface="Georgia"/>
                <a:ea typeface="微软雅黑"/>
                <a:cs typeface="微软雅黑"/>
                <a:gradFill>
                  <a:gsLst>
                    <a:gs pos="0">
                      <a:srgbClr val="B8956A"/>
                    </a:gs>
                    <a:gs pos="50000">
                      <a:srgbClr val="D4B896"/>
                    </a:gs>
                    <a:gs pos="100000">
                      <a:srgbClr val="9C7A4E"/>
                    </a:gs>
                  </a:gsLst>
                  <a:lin ang="0" scaled="1"/>
                </a:gradFill>
              </a:rPr>
              <a:t>86% 在用 AI，不到 50% 能证明 ROI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27632"/>
            <a:ext cx="1097280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666666"/>
                </a:solidFill>
                <a:latin typeface="Arial"/>
                <a:ea typeface="微软雅黑"/>
                <a:cs typeface="微软雅黑"/>
              </a:rPr>
              <a:t>问题不在模型，在落地路径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48840"/>
            <a:ext cx="3593592" cy="3657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4B896"/>
            </a:solidFill>
          </a:ln>
          <a:effectLst>
            <a:outerShdw blurRad="60000" dist="20000" dir="5400000" rotWithShape="0">
              <a:srgbClr val="1A1A1F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2331720"/>
            <a:ext cx="3044952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9C7A4E"/>
                </a:solidFill>
                <a:latin typeface="Georgia"/>
                <a:ea typeface="微软雅黑"/>
                <a:cs typeface="微软雅黑"/>
              </a:rPr>
              <a:t>鸿沟 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697480"/>
            <a:ext cx="3044952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22222"/>
                </a:solidFill>
                <a:latin typeface="Georgia"/>
                <a:ea typeface="微软雅黑"/>
                <a:cs typeface="微软雅黑"/>
              </a:rPr>
              <a:t>单点工具鸿沟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22959" y="3337560"/>
            <a:ext cx="3044953" cy="0"/>
          </a:xfrm>
          <a:prstGeom prst="line">
            <a:avLst/>
          </a:prstGeom>
          <a:ln w="7620">
            <a:solidFill>
              <a:srgbClr val="D4B8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822959" y="3474720"/>
            <a:ext cx="3044952" cy="2194560"/>
          </a:xfrm>
          <a:prstGeom prst="rect">
            <a:avLst/>
          </a:prstGeom>
          <a:noFill/>
        </p:spPr>
        <p:txBody>
          <a:bodyPr wrap="square" lIns="50800" rIns="50800" tIns="50800" bIns="50800" anchor="t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100" b="1">
                <a:solidFill>
                  <a:srgbClr val="B8956A"/>
                </a:solidFill>
                <a:latin typeface="Consolas"/>
                <a:ea typeface="微软雅黑"/>
                <a:cs typeface="微软雅黑"/>
              </a:rPr>
              <a:t>▸  </a:t>
            </a:r>
            <a:r>
              <a:rPr sz="1150" b="0">
                <a:solidFill>
                  <a:srgbClr val="222222"/>
                </a:solidFill>
                <a:latin typeface="Arial"/>
                <a:ea typeface="微软雅黑"/>
                <a:cs typeface="微软雅黑"/>
              </a:rPr>
              <a:t>大量企业 AI 应用停留在"生成文案 / 优化投放"单点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100" b="1">
                <a:solidFill>
                  <a:srgbClr val="B8956A"/>
                </a:solidFill>
                <a:latin typeface="Consolas"/>
                <a:ea typeface="微软雅黑"/>
                <a:cs typeface="微软雅黑"/>
              </a:rPr>
              <a:t>▸  </a:t>
            </a:r>
            <a:r>
              <a:rPr sz="1150" b="0">
                <a:solidFill>
                  <a:srgbClr val="222222"/>
                </a:solidFill>
                <a:latin typeface="Arial"/>
                <a:ea typeface="微软雅黑"/>
                <a:cs typeface="微软雅黑"/>
              </a:rPr>
              <a:t>从"流量获取"到"转化承接"的闭环未打通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100" b="1">
                <a:solidFill>
                  <a:srgbClr val="B8956A"/>
                </a:solidFill>
                <a:latin typeface="Consolas"/>
                <a:ea typeface="微软雅黑"/>
                <a:cs typeface="微软雅黑"/>
              </a:rPr>
              <a:t>▸  </a:t>
            </a:r>
            <a:r>
              <a:rPr sz="1150" b="0">
                <a:solidFill>
                  <a:srgbClr val="222222"/>
                </a:solidFill>
                <a:latin typeface="Arial"/>
                <a:ea typeface="微软雅黑"/>
                <a:cs typeface="微软雅黑"/>
              </a:rPr>
              <a:t>AI 的 ROI 不是通用模型堆出来的，是痛点场景挖出来的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2148840"/>
            <a:ext cx="3593592" cy="3657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4B896"/>
            </a:solidFill>
          </a:ln>
          <a:effectLst>
            <a:outerShdw blurRad="60000" dist="20000" dir="5400000" rotWithShape="0">
              <a:srgbClr val="1A1A1F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2331720"/>
            <a:ext cx="3044952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9C7A4E"/>
                </a:solidFill>
                <a:latin typeface="Georgia"/>
                <a:ea typeface="微软雅黑"/>
                <a:cs typeface="微软雅黑"/>
              </a:rPr>
              <a:t>鸿沟 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2697480"/>
            <a:ext cx="3044952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22222"/>
                </a:solidFill>
                <a:latin typeface="Georgia"/>
                <a:ea typeface="微软雅黑"/>
                <a:cs typeface="微软雅黑"/>
              </a:rPr>
              <a:t>数据闭环鸿沟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572000" y="3337560"/>
            <a:ext cx="3044952" cy="0"/>
          </a:xfrm>
          <a:prstGeom prst="line">
            <a:avLst/>
          </a:prstGeom>
          <a:ln w="7620">
            <a:solidFill>
              <a:srgbClr val="D4B8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4572000" y="3474720"/>
            <a:ext cx="3044952" cy="2194560"/>
          </a:xfrm>
          <a:prstGeom prst="rect">
            <a:avLst/>
          </a:prstGeom>
          <a:noFill/>
        </p:spPr>
        <p:txBody>
          <a:bodyPr wrap="square" lIns="50800" rIns="50800" tIns="50800" bIns="50800" anchor="t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100" b="1">
                <a:solidFill>
                  <a:srgbClr val="B8956A"/>
                </a:solidFill>
                <a:latin typeface="Consolas"/>
                <a:ea typeface="微软雅黑"/>
                <a:cs typeface="微软雅黑"/>
              </a:rPr>
              <a:t>▸  </a:t>
            </a:r>
            <a:r>
              <a:rPr sz="1150" b="0">
                <a:solidFill>
                  <a:srgbClr val="222222"/>
                </a:solidFill>
                <a:latin typeface="Arial"/>
                <a:ea typeface="微软雅黑"/>
                <a:cs typeface="微软雅黑"/>
              </a:rPr>
              <a:t>CDP 未整合全域数据，AI 预测无米下锅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100" b="1">
                <a:solidFill>
                  <a:srgbClr val="B8956A"/>
                </a:solidFill>
                <a:latin typeface="Consolas"/>
                <a:ea typeface="微软雅黑"/>
                <a:cs typeface="微软雅黑"/>
              </a:rPr>
              <a:t>▸  </a:t>
            </a:r>
            <a:r>
              <a:rPr sz="1150" b="0">
                <a:solidFill>
                  <a:srgbClr val="222222"/>
                </a:solidFill>
                <a:latin typeface="Arial"/>
                <a:ea typeface="微软雅黑"/>
                <a:cs typeface="微软雅黑"/>
              </a:rPr>
              <a:t>归因仍依赖 Cookie，2026 已完全失效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100" b="1">
                <a:solidFill>
                  <a:srgbClr val="B8956A"/>
                </a:solidFill>
                <a:latin typeface="Consolas"/>
                <a:ea typeface="微软雅黑"/>
                <a:cs typeface="微软雅黑"/>
              </a:rPr>
              <a:t>▸  </a:t>
            </a:r>
            <a:r>
              <a:rPr sz="1150" b="0">
                <a:solidFill>
                  <a:srgbClr val="222222"/>
                </a:solidFill>
                <a:latin typeface="Arial"/>
                <a:ea typeface="微软雅黑"/>
                <a:cs typeface="微软雅黑"/>
              </a:rPr>
              <a:t>60%+ 广告主困在"黑盒投放"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2148840"/>
            <a:ext cx="3593592" cy="3657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4B896"/>
            </a:solidFill>
          </a:ln>
          <a:effectLst>
            <a:outerShdw blurRad="60000" dist="20000" dir="5400000" rotWithShape="0">
              <a:srgbClr val="1A1A1F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2331720"/>
            <a:ext cx="3044952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9C7A4E"/>
                </a:solidFill>
                <a:latin typeface="Georgia"/>
                <a:ea typeface="微软雅黑"/>
                <a:cs typeface="微软雅黑"/>
              </a:rPr>
              <a:t>鸿沟 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2697480"/>
            <a:ext cx="3044952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22222"/>
                </a:solidFill>
                <a:latin typeface="Georgia"/>
                <a:ea typeface="微软雅黑"/>
                <a:cs typeface="微软雅黑"/>
              </a:rPr>
              <a:t>组织能力鸿沟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321040" y="3337560"/>
            <a:ext cx="3044952" cy="0"/>
          </a:xfrm>
          <a:prstGeom prst="line">
            <a:avLst/>
          </a:prstGeom>
          <a:ln w="7620">
            <a:solidFill>
              <a:srgbClr val="D4B8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321040" y="3474720"/>
            <a:ext cx="3044952" cy="2194560"/>
          </a:xfrm>
          <a:prstGeom prst="rect">
            <a:avLst/>
          </a:prstGeom>
          <a:noFill/>
        </p:spPr>
        <p:txBody>
          <a:bodyPr wrap="square" lIns="50800" rIns="50800" tIns="50800" bIns="50800" anchor="t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100" b="1">
                <a:solidFill>
                  <a:srgbClr val="B8956A"/>
                </a:solidFill>
                <a:latin typeface="Consolas"/>
                <a:ea typeface="微软雅黑"/>
                <a:cs typeface="微软雅黑"/>
              </a:rPr>
              <a:t>▸  </a:t>
            </a:r>
            <a:r>
              <a:rPr sz="1150" b="0">
                <a:solidFill>
                  <a:srgbClr val="222222"/>
                </a:solidFill>
                <a:latin typeface="Arial"/>
                <a:ea typeface="微软雅黑"/>
                <a:cs typeface="微软雅黑"/>
              </a:rPr>
              <a:t>86% 营销人员用 AI，&lt;50% 能证明 ROI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100" b="1">
                <a:solidFill>
                  <a:srgbClr val="B8956A"/>
                </a:solidFill>
                <a:latin typeface="Consolas"/>
                <a:ea typeface="微软雅黑"/>
                <a:cs typeface="微软雅黑"/>
              </a:rPr>
              <a:t>▸  </a:t>
            </a:r>
            <a:r>
              <a:rPr sz="1150" b="0">
                <a:solidFill>
                  <a:srgbClr val="222222"/>
                </a:solidFill>
                <a:latin typeface="Arial"/>
                <a:ea typeface="微软雅黑"/>
                <a:cs typeface="微软雅黑"/>
              </a:rPr>
              <a:t>团队懂 AI 不懂业务，懂业务不会用 AI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100" b="1">
                <a:solidFill>
                  <a:srgbClr val="B8956A"/>
                </a:solidFill>
                <a:latin typeface="Consolas"/>
                <a:ea typeface="微软雅黑"/>
                <a:cs typeface="微软雅黑"/>
              </a:rPr>
              <a:t>▸  </a:t>
            </a:r>
            <a:r>
              <a:rPr sz="1150" b="0">
                <a:solidFill>
                  <a:srgbClr val="222222"/>
                </a:solidFill>
                <a:latin typeface="Arial"/>
                <a:ea typeface="微软雅黑"/>
                <a:cs typeface="微软雅黑"/>
              </a:rPr>
              <a:t>"跑通规模化盈利的企业都遵循先啃硬骨头原则"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5989320"/>
            <a:ext cx="11091672" cy="292608"/>
          </a:xfrm>
          <a:prstGeom prst="roundRect">
            <a:avLst>
              <a:gd name="adj" fmla="val 50000"/>
            </a:avLst>
          </a:prstGeom>
          <a:ln>
            <a:noFill/>
          </a:ln>
          <a:gradFill>
            <a:gsLst>
              <a:gs pos="0">
                <a:srgbClr val="B8956A"/>
              </a:gs>
              <a:gs pos="100000">
                <a:srgbClr val="9C7A4E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6016752"/>
            <a:ext cx="11091672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软雅黑"/>
                <a:cs typeface="微软雅黑"/>
              </a:rPr>
              <a:t>86% 用 AI  ·  &lt;50% 能证明 ROI  ·  问题不在模型，在落地路径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7620">
            <a:solidFill>
              <a:srgbClr val="9C7A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666666"/>
                </a:solidFill>
                <a:latin typeface="Georgia"/>
                <a:ea typeface="微软雅黑"/>
                <a:cs typeface="微软雅黑"/>
              </a:rPr>
              <a:t>WUJIE AI · INTELLIGENCE ENGINEERED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92640" y="6492240"/>
            <a:ext cx="1947672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666666"/>
                </a:solidFill>
                <a:latin typeface="Consolas"/>
                <a:ea typeface="微软雅黑"/>
                <a:cs typeface="微软雅黑"/>
              </a:rPr>
              <a:t>03 / 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9C7A4E"/>
                </a:solidFill>
                <a:latin typeface="Georgia"/>
                <a:ea typeface="微软雅黑"/>
                <a:cs typeface="微软雅黑"/>
              </a:rPr>
              <a:t>WUJIE AI · 范式转移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713232"/>
            <a:ext cx="1463040" cy="0"/>
          </a:xfrm>
          <a:prstGeom prst="line">
            <a:avLst/>
          </a:prstGeom>
          <a:ln w="1524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400" b="1">
                <a:latin typeface="Georgia"/>
                <a:ea typeface="微软雅黑"/>
                <a:cs typeface="微软雅黑"/>
                <a:gradFill>
                  <a:gsLst>
                    <a:gs pos="0">
                      <a:srgbClr val="B8956A"/>
                    </a:gs>
                    <a:gs pos="50000">
                      <a:srgbClr val="D4B896"/>
                    </a:gs>
                    <a:gs pos="100000">
                      <a:srgbClr val="9C7A4E"/>
                    </a:gs>
                  </a:gsLst>
                  <a:lin ang="0" scaled="1"/>
                </a:gradFill>
              </a:rPr>
              <a:t>2026，三个范式转移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27632"/>
            <a:ext cx="1097280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666666"/>
                </a:solidFill>
                <a:latin typeface="Arial"/>
                <a:ea typeface="微软雅黑"/>
                <a:cs typeface="微软雅黑"/>
              </a:rPr>
              <a:t>Agent OS 元年 · GEO 崛起 · Cookieless 归因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48840"/>
            <a:ext cx="3593592" cy="37490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4B896"/>
            </a:solidFill>
          </a:ln>
          <a:effectLst>
            <a:outerShdw blurRad="60000" dist="20000" dir="5400000" rotWithShape="0">
              <a:srgbClr val="1A1A1F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2286000"/>
            <a:ext cx="1828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>
                <a:latin typeface="Georgia"/>
                <a:ea typeface="微软雅黑"/>
                <a:cs typeface="微软雅黑"/>
                <a:gradFill>
                  <a:gsLst>
                    <a:gs pos="0">
                      <a:srgbClr val="B8956A"/>
                    </a:gs>
                    <a:gs pos="50000">
                      <a:srgbClr val="D4B896"/>
                    </a:gs>
                    <a:gs pos="100000">
                      <a:srgbClr val="9C7A4E"/>
                    </a:gs>
                  </a:gsLst>
                  <a:lin ang="0" scaled="1"/>
                </a:gradFill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200400"/>
            <a:ext cx="3044952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22222"/>
                </a:solidFill>
                <a:latin typeface="Georgia"/>
                <a:ea typeface="微软雅黑"/>
                <a:cs typeface="微软雅黑"/>
              </a:rPr>
              <a:t>Agent OS 元年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3657600"/>
            <a:ext cx="3044952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666666"/>
                </a:solidFill>
                <a:latin typeface="Arial"/>
                <a:ea typeface="微软雅黑"/>
                <a:cs typeface="微软雅黑"/>
              </a:rPr>
              <a:t>从"生成式 AI" 转向 "Agent"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822959" y="4069080"/>
            <a:ext cx="3044953" cy="0"/>
          </a:xfrm>
          <a:prstGeom prst="line">
            <a:avLst/>
          </a:prstGeom>
          <a:ln w="7620">
            <a:solidFill>
              <a:srgbClr val="D4B8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822959" y="4160520"/>
            <a:ext cx="3044952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9C7A4E"/>
                </a:solidFill>
                <a:latin typeface="Consolas"/>
                <a:ea typeface="微软雅黑"/>
                <a:cs typeface="微软雅黑"/>
              </a:rPr>
              <a:t>81%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" y="4617720"/>
            <a:ext cx="3044952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666666"/>
                </a:solidFill>
                <a:latin typeface="Arial"/>
                <a:ea typeface="微软雅黑"/>
                <a:cs typeface="微软雅黑"/>
              </a:rPr>
              <a:t>企业计划部署智能体 (Google)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59" y="5212080"/>
            <a:ext cx="3044952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222222"/>
                </a:solidFill>
                <a:latin typeface="Arial"/>
                <a:ea typeface="微软雅黑"/>
                <a:cs typeface="微软雅黑"/>
              </a:rPr>
              <a:t>智能体编排取代单点工具，决策闭环成为新基建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2148840"/>
            <a:ext cx="3593592" cy="37490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4B896"/>
            </a:solidFill>
          </a:ln>
          <a:effectLst>
            <a:outerShdw blurRad="60000" dist="20000" dir="5400000" rotWithShape="0">
              <a:srgbClr val="1A1A1F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0" y="2286000"/>
            <a:ext cx="1828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>
                <a:latin typeface="Georgia"/>
                <a:ea typeface="微软雅黑"/>
                <a:cs typeface="微软雅黑"/>
                <a:gradFill>
                  <a:gsLst>
                    <a:gs pos="0">
                      <a:srgbClr val="B8956A"/>
                    </a:gs>
                    <a:gs pos="50000">
                      <a:srgbClr val="D4B896"/>
                    </a:gs>
                    <a:gs pos="100000">
                      <a:srgbClr val="9C7A4E"/>
                    </a:gs>
                  </a:gsLst>
                  <a:lin ang="0" scaled="1"/>
                </a:gradFill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3200400"/>
            <a:ext cx="3044952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22222"/>
                </a:solidFill>
                <a:latin typeface="Georgia"/>
                <a:ea typeface="微软雅黑"/>
                <a:cs typeface="微软雅黑"/>
              </a:rPr>
              <a:t>GEO 崛起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3657600"/>
            <a:ext cx="3044952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666666"/>
                </a:solidFill>
                <a:latin typeface="Arial"/>
                <a:ea typeface="微软雅黑"/>
                <a:cs typeface="微软雅黑"/>
              </a:rPr>
              <a:t>AI 搜索成新获客渠道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572000" y="4069080"/>
            <a:ext cx="3044952" cy="0"/>
          </a:xfrm>
          <a:prstGeom prst="line">
            <a:avLst/>
          </a:prstGeom>
          <a:ln w="7620">
            <a:solidFill>
              <a:srgbClr val="D4B8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572000" y="4160520"/>
            <a:ext cx="3044952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9C7A4E"/>
                </a:solidFill>
                <a:latin typeface="Consolas"/>
                <a:ea typeface="微软雅黑"/>
                <a:cs typeface="微软雅黑"/>
              </a:rPr>
              <a:t>-50~70%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4617720"/>
            <a:ext cx="3044952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666666"/>
                </a:solidFill>
                <a:latin typeface="Arial"/>
                <a:ea typeface="微软雅黑"/>
                <a:cs typeface="微软雅黑"/>
              </a:rPr>
              <a:t>CAC 下降 · 7-15 天见效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5212080"/>
            <a:ext cx="3044952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222222"/>
                </a:solidFill>
                <a:latin typeface="Arial"/>
                <a:ea typeface="微软雅黑"/>
                <a:cs typeface="微软雅黑"/>
              </a:rPr>
              <a:t>一次布局长期获客，AI 引擎优先抓取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6720" y="2148840"/>
            <a:ext cx="3593592" cy="37490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4B896"/>
            </a:solidFill>
          </a:ln>
          <a:effectLst>
            <a:outerShdw blurRad="60000" dist="20000" dir="5400000" rotWithShape="0">
              <a:srgbClr val="1A1A1F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21040" y="2286000"/>
            <a:ext cx="1828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>
                <a:latin typeface="Georgia"/>
                <a:ea typeface="微软雅黑"/>
                <a:cs typeface="微软雅黑"/>
                <a:gradFill>
                  <a:gsLst>
                    <a:gs pos="0">
                      <a:srgbClr val="B8956A"/>
                    </a:gs>
                    <a:gs pos="50000">
                      <a:srgbClr val="D4B896"/>
                    </a:gs>
                    <a:gs pos="100000">
                      <a:srgbClr val="9C7A4E"/>
                    </a:gs>
                  </a:gsLst>
                  <a:lin ang="0" scaled="1"/>
                </a:gradFill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3200400"/>
            <a:ext cx="3044952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22222"/>
                </a:solidFill>
                <a:latin typeface="Georgia"/>
                <a:ea typeface="微软雅黑"/>
                <a:cs typeface="微软雅黑"/>
              </a:rPr>
              <a:t>Cookieless 归因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40" y="3657600"/>
            <a:ext cx="3044952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666666"/>
                </a:solidFill>
                <a:latin typeface="Arial"/>
                <a:ea typeface="微软雅黑"/>
                <a:cs typeface="微软雅黑"/>
              </a:rPr>
              <a:t>MTA 让位于 AI 增强归因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321040" y="4069080"/>
            <a:ext cx="3044952" cy="0"/>
          </a:xfrm>
          <a:prstGeom prst="line">
            <a:avLst/>
          </a:prstGeom>
          <a:ln w="7620">
            <a:solidFill>
              <a:srgbClr val="D4B8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321040" y="4160520"/>
            <a:ext cx="3044952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9C7A4E"/>
                </a:solidFill>
                <a:latin typeface="Consolas"/>
                <a:ea typeface="微软雅黑"/>
                <a:cs typeface="微软雅黑"/>
              </a:rPr>
              <a:t>MMM +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21040" y="4617720"/>
            <a:ext cx="3044952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666666"/>
                </a:solidFill>
                <a:latin typeface="Arial"/>
                <a:ea typeface="微软雅黑"/>
                <a:cs typeface="微软雅黑"/>
              </a:rPr>
              <a:t>LightweightMMM + Incrementality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5212080"/>
            <a:ext cx="3044952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222222"/>
                </a:solidFill>
                <a:latin typeface="Arial"/>
                <a:ea typeface="微软雅黑"/>
                <a:cs typeface="微软雅黑"/>
              </a:rPr>
              <a:t>因果归因取代规则归因，预算不再黑盒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7620">
            <a:solidFill>
              <a:srgbClr val="9C7A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666666"/>
                </a:solidFill>
                <a:latin typeface="Georgia"/>
                <a:ea typeface="微软雅黑"/>
                <a:cs typeface="微软雅黑"/>
              </a:rPr>
              <a:t>WUJIE AI · INTELLIGENCE ENGINEERED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92640" y="6492240"/>
            <a:ext cx="1947672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666666"/>
                </a:solidFill>
                <a:latin typeface="Consolas"/>
                <a:ea typeface="微软雅黑"/>
                <a:cs typeface="微软雅黑"/>
              </a:rPr>
              <a:t>04 / 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9C7A4E"/>
                </a:solidFill>
                <a:latin typeface="Georgia"/>
                <a:ea typeface="微软雅黑"/>
                <a:cs typeface="微软雅黑"/>
              </a:rPr>
              <a:t>WUJIE AI · 双引擎闭环架构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713232"/>
            <a:ext cx="1463040" cy="0"/>
          </a:xfrm>
          <a:prstGeom prst="line">
            <a:avLst/>
          </a:prstGeom>
          <a:ln w="1524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latin typeface="Georgia"/>
                <a:ea typeface="微软雅黑"/>
                <a:cs typeface="微软雅黑"/>
                <a:gradFill>
                  <a:gsLst>
                    <a:gs pos="0">
                      <a:srgbClr val="B8956A"/>
                    </a:gs>
                    <a:gs pos="50000">
                      <a:srgbClr val="D4B896"/>
                    </a:gs>
                    <a:gs pos="100000">
                      <a:srgbClr val="9C7A4E"/>
                    </a:gs>
                  </a:gsLst>
                  <a:lin ang="0" scaled="1"/>
                </a:gradFill>
              </a:rPr>
              <a:t>AI 获客 × AI 营销 双引擎闭环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1097280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666666"/>
                </a:solidFill>
                <a:latin typeface="Arial"/>
                <a:ea typeface="微软雅黑"/>
                <a:cs typeface="微软雅黑"/>
              </a:rPr>
              <a:t>触达 → 数据 → 决策 → 度量 · 四层闭环回流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7863840"/>
            <a:ext cx="8229600" cy="1280160"/>
          </a:xfrm>
          <a:prstGeom prst="roundRect">
            <a:avLst>
              <a:gd name="adj" fmla="val 10000"/>
            </a:avLst>
          </a:prstGeom>
          <a:ln>
            <a:noFill/>
          </a:ln>
          <a:gradFill>
            <a:gsLst>
              <a:gs pos="0">
                <a:srgbClr val="B8956A"/>
              </a:gs>
              <a:gs pos="100000">
                <a:srgbClr val="9C7A4E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8028431"/>
            <a:ext cx="182880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Georgia"/>
                <a:ea typeface="微软雅黑"/>
                <a:cs typeface="微软雅黑"/>
              </a:rPr>
              <a:t>触达层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097280" y="8577072"/>
            <a:ext cx="1280159" cy="0"/>
          </a:xfrm>
          <a:prstGeom prst="line">
            <a:avLst/>
          </a:prstGeom>
          <a:ln w="7620">
            <a:solidFill>
              <a:srgbClr val="D4B8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097280" y="8641080"/>
            <a:ext cx="768096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智能投放 · GEO · 外呼 · 内容工厂 · 数字人直播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6355080"/>
            <a:ext cx="8229600" cy="1280160"/>
          </a:xfrm>
          <a:prstGeom prst="roundRect">
            <a:avLst>
              <a:gd name="adj" fmla="val 10000"/>
            </a:avLst>
          </a:prstGeom>
          <a:ln>
            <a:noFill/>
          </a:ln>
          <a:gradFill>
            <a:gsLst>
              <a:gs pos="0">
                <a:srgbClr val="B8956A"/>
              </a:gs>
              <a:gs pos="100000">
                <a:srgbClr val="9C7A4E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6519672"/>
            <a:ext cx="182880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Georgia"/>
                <a:ea typeface="微软雅黑"/>
                <a:cs typeface="微软雅黑"/>
              </a:rPr>
              <a:t>数据层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097280" y="7068312"/>
            <a:ext cx="1280159" cy="0"/>
          </a:xfrm>
          <a:prstGeom prst="line">
            <a:avLst/>
          </a:prstGeom>
          <a:ln w="7620">
            <a:solidFill>
              <a:srgbClr val="D4B8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97280" y="7132320"/>
            <a:ext cx="768096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CDP + 第一方数据 + PETs 隐私计算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4846320"/>
            <a:ext cx="8229600" cy="1280160"/>
          </a:xfrm>
          <a:prstGeom prst="roundRect">
            <a:avLst>
              <a:gd name="adj" fmla="val 10000"/>
            </a:avLst>
          </a:prstGeom>
          <a:ln>
            <a:noFill/>
          </a:ln>
          <a:gradFill>
            <a:gsLst>
              <a:gs pos="0">
                <a:srgbClr val="B8956A"/>
              </a:gs>
              <a:gs pos="100000">
                <a:srgbClr val="9C7A4E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5010912"/>
            <a:ext cx="182880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Georgia"/>
                <a:ea typeface="微软雅黑"/>
                <a:cs typeface="微软雅黑"/>
              </a:rPr>
              <a:t>决策层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97280" y="5559552"/>
            <a:ext cx="1280159" cy="0"/>
          </a:xfrm>
          <a:prstGeom prst="line">
            <a:avLst/>
          </a:prstGeom>
          <a:ln w="7620">
            <a:solidFill>
              <a:srgbClr val="D4B8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097280" y="5623559"/>
            <a:ext cx="768096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AI Agent 编排 + 多臂老虎机 + 预测模型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3337560"/>
            <a:ext cx="8229600" cy="1280160"/>
          </a:xfrm>
          <a:prstGeom prst="roundRect">
            <a:avLst>
              <a:gd name="adj" fmla="val 10000"/>
            </a:avLst>
          </a:prstGeom>
          <a:ln>
            <a:noFill/>
          </a:ln>
          <a:gradFill>
            <a:gsLst>
              <a:gs pos="0">
                <a:srgbClr val="B8956A"/>
              </a:gs>
              <a:gs pos="100000">
                <a:srgbClr val="9C7A4E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3502152"/>
            <a:ext cx="182880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Georgia"/>
                <a:ea typeface="微软雅黑"/>
                <a:cs typeface="微软雅黑"/>
              </a:rPr>
              <a:t>度量层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097280" y="4050791"/>
            <a:ext cx="1280159" cy="0"/>
          </a:xfrm>
          <a:prstGeom prst="line">
            <a:avLst/>
          </a:prstGeom>
          <a:ln w="7620">
            <a:solidFill>
              <a:srgbClr val="D4B8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97280" y="4114800"/>
            <a:ext cx="768096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LightweightMMM + Rockerbox + TTD 归因</a:t>
            </a:r>
          </a:p>
        </p:txBody>
      </p:sp>
      <p:sp>
        <p:nvSpPr>
          <p:cNvPr id="22" name="Up Arrow 21"/>
          <p:cNvSpPr/>
          <p:nvPr/>
        </p:nvSpPr>
        <p:spPr>
          <a:xfrm>
            <a:off x="9509760" y="3383280"/>
            <a:ext cx="1371600" cy="2926080"/>
          </a:xfrm>
          <a:prstGeom prst="upArrow">
            <a:avLst/>
          </a:prstGeom>
          <a:solidFill>
            <a:srgbClr val="B895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09760" y="3337560"/>
            <a:ext cx="137160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9C7A4E"/>
                </a:solidFill>
                <a:latin typeface="Georgia"/>
                <a:ea typeface="微软雅黑"/>
                <a:cs typeface="微软雅黑"/>
              </a:rPr>
              <a:t>闭环回流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6172200"/>
            <a:ext cx="822960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666666"/>
                </a:solidFill>
                <a:latin typeface="Arial"/>
                <a:ea typeface="微软雅黑"/>
                <a:cs typeface="微软雅黑"/>
              </a:rPr>
              <a:t>数据回流驱动决策，决策反哺触达 — 自驱迭代闭环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7620">
            <a:solidFill>
              <a:srgbClr val="9C7A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666666"/>
                </a:solidFill>
                <a:latin typeface="Georgia"/>
                <a:ea typeface="微软雅黑"/>
                <a:cs typeface="微软雅黑"/>
              </a:rPr>
              <a:t>WUJIE AI · INTELLIGENCE ENGINEERED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92640" y="6492240"/>
            <a:ext cx="1947672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666666"/>
                </a:solidFill>
                <a:latin typeface="Consolas"/>
                <a:ea typeface="微软雅黑"/>
                <a:cs typeface="微软雅黑"/>
              </a:rPr>
              <a:t>05 / 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9C7A4E"/>
                </a:solidFill>
                <a:latin typeface="Georgia"/>
                <a:ea typeface="微软雅黑"/>
                <a:cs typeface="微软雅黑"/>
              </a:rPr>
              <a:t>WUJIE AI · 获客四件套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713232"/>
            <a:ext cx="1463040" cy="0"/>
          </a:xfrm>
          <a:prstGeom prst="line">
            <a:avLst/>
          </a:prstGeom>
          <a:ln w="1524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400" b="1">
                <a:latin typeface="Georgia"/>
                <a:ea typeface="微软雅黑"/>
                <a:cs typeface="微软雅黑"/>
                <a:gradFill>
                  <a:gsLst>
                    <a:gs pos="0">
                      <a:srgbClr val="B8956A"/>
                    </a:gs>
                    <a:gs pos="50000">
                      <a:srgbClr val="D4B896"/>
                    </a:gs>
                    <a:gs pos="100000">
                      <a:srgbClr val="9C7A4E"/>
                    </a:gs>
                  </a:gsLst>
                  <a:lin ang="0" scaled="1"/>
                </a:gradFill>
              </a:rPr>
              <a:t>AI 获客四件套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1097280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666666"/>
                </a:solidFill>
                <a:latin typeface="Arial"/>
                <a:ea typeface="微软雅黑"/>
                <a:cs typeface="微软雅黑"/>
              </a:rPr>
              <a:t>智能投放 · AI GEO · AI 外呼 · 私域 SCRM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03120"/>
            <a:ext cx="11091672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4B896"/>
            </a:solidFill>
          </a:ln>
          <a:effectLst>
            <a:outerShdw blurRad="60000" dist="20000" dir="5400000" rotWithShape="0">
              <a:srgbClr val="1A1A1F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267712"/>
            <a:ext cx="1097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latin typeface="Georgia"/>
                <a:ea typeface="微软雅黑"/>
                <a:cs typeface="微软雅黑"/>
                <a:gradFill>
                  <a:gsLst>
                    <a:gs pos="0">
                      <a:srgbClr val="B8956A"/>
                    </a:gs>
                    <a:gs pos="50000">
                      <a:srgbClr val="D4B896"/>
                    </a:gs>
                    <a:gs pos="100000">
                      <a:srgbClr val="9C7A4E"/>
                    </a:gs>
                  </a:gsLst>
                  <a:lin ang="0" scaled="1"/>
                </a:gradFill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67712"/>
            <a:ext cx="3200400" cy="6400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222222"/>
                </a:solidFill>
                <a:latin typeface="Georgia"/>
                <a:ea typeface="微软雅黑"/>
                <a:cs typeface="微软雅黑"/>
              </a:rPr>
              <a:t>智能投放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2267712"/>
            <a:ext cx="3931920" cy="6400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666666"/>
                </a:solidFill>
                <a:latin typeface="Arial"/>
                <a:ea typeface="微软雅黑"/>
                <a:cs typeface="微软雅黑"/>
              </a:rPr>
              <a:t>Meta Advantage+ / Google PMax / TikTok Smart+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2212848"/>
            <a:ext cx="2560320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spcAft>
                <a:spcPts val="200"/>
              </a:spcAft>
            </a:pPr>
            <a:r>
              <a:rPr sz="1700" b="1">
                <a:solidFill>
                  <a:srgbClr val="9C7A4E"/>
                </a:solidFill>
                <a:latin typeface="Consolas"/>
                <a:ea typeface="微软雅黑"/>
                <a:cs typeface="微软雅黑"/>
              </a:rPr>
              <a:t>ROI +32%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2651760"/>
            <a:ext cx="256032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666666"/>
                </a:solidFill>
                <a:latin typeface="Arial"/>
                <a:ea typeface="微软雅黑"/>
                <a:cs typeface="微软雅黑"/>
              </a:rPr>
              <a:t>Meta Advantage+ 行业平均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182111"/>
            <a:ext cx="11091672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4B896"/>
            </a:solidFill>
          </a:ln>
          <a:effectLst>
            <a:outerShdw blurRad="60000" dist="20000" dir="5400000" rotWithShape="0">
              <a:srgbClr val="1A1A1F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346703"/>
            <a:ext cx="1097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latin typeface="Georgia"/>
                <a:ea typeface="微软雅黑"/>
                <a:cs typeface="微软雅黑"/>
                <a:gradFill>
                  <a:gsLst>
                    <a:gs pos="0">
                      <a:srgbClr val="B8956A"/>
                    </a:gs>
                    <a:gs pos="50000">
                      <a:srgbClr val="D4B896"/>
                    </a:gs>
                    <a:gs pos="100000">
                      <a:srgbClr val="9C7A4E"/>
                    </a:gs>
                  </a:gsLst>
                  <a:lin ang="0" scaled="1"/>
                </a:gradFill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346703"/>
            <a:ext cx="3200400" cy="6400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222222"/>
                </a:solidFill>
                <a:latin typeface="Georgia"/>
                <a:ea typeface="微软雅黑"/>
                <a:cs typeface="微软雅黑"/>
              </a:rPr>
              <a:t>AI GEO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7760" y="3346703"/>
            <a:ext cx="3931920" cy="6400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666666"/>
                </a:solidFill>
                <a:latin typeface="Arial"/>
                <a:ea typeface="微软雅黑"/>
                <a:cs typeface="微软雅黑"/>
              </a:rPr>
              <a:t>豆包 / 文心 / ChatGPT 优先抓取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69680" y="3291839"/>
            <a:ext cx="2560320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spcAft>
                <a:spcPts val="200"/>
              </a:spcAft>
            </a:pPr>
            <a:r>
              <a:rPr sz="1700" b="1">
                <a:solidFill>
                  <a:srgbClr val="9C7A4E"/>
                </a:solidFill>
                <a:latin typeface="Consolas"/>
                <a:ea typeface="微软雅黑"/>
                <a:cs typeface="微软雅黑"/>
              </a:rPr>
              <a:t>CAC -50~70%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9680" y="3730751"/>
            <a:ext cx="256032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666666"/>
                </a:solidFill>
                <a:latin typeface="Arial"/>
                <a:ea typeface="微软雅黑"/>
                <a:cs typeface="微软雅黑"/>
              </a:rPr>
              <a:t>7-15 天见效 · 长期获客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61104"/>
            <a:ext cx="11091672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4B896"/>
            </a:solidFill>
          </a:ln>
          <a:effectLst>
            <a:outerShdw blurRad="60000" dist="20000" dir="5400000" rotWithShape="0">
              <a:srgbClr val="1A1A1F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425696"/>
            <a:ext cx="1097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latin typeface="Georgia"/>
                <a:ea typeface="微软雅黑"/>
                <a:cs typeface="微软雅黑"/>
                <a:gradFill>
                  <a:gsLst>
                    <a:gs pos="0">
                      <a:srgbClr val="B8956A"/>
                    </a:gs>
                    <a:gs pos="50000">
                      <a:srgbClr val="D4B896"/>
                    </a:gs>
                    <a:gs pos="100000">
                      <a:srgbClr val="9C7A4E"/>
                    </a:gs>
                  </a:gsLst>
                  <a:lin ang="0" scaled="1"/>
                </a:gradFill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425696"/>
            <a:ext cx="3200400" cy="6400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222222"/>
                </a:solidFill>
                <a:latin typeface="Georgia"/>
                <a:ea typeface="微软雅黑"/>
                <a:cs typeface="微软雅黑"/>
              </a:rPr>
              <a:t>AI 外呼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37760" y="4425696"/>
            <a:ext cx="3931920" cy="6400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666666"/>
                </a:solidFill>
                <a:latin typeface="Arial"/>
                <a:ea typeface="微软雅黑"/>
                <a:cs typeface="微软雅黑"/>
              </a:rPr>
              <a:t>日均 3000+ 通（10×）· 成本 1/10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69680" y="4370832"/>
            <a:ext cx="2560320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spcAft>
                <a:spcPts val="200"/>
              </a:spcAft>
            </a:pPr>
            <a:r>
              <a:rPr sz="1700" b="1">
                <a:solidFill>
                  <a:srgbClr val="9C7A4E"/>
                </a:solidFill>
                <a:latin typeface="Consolas"/>
                <a:ea typeface="微软雅黑"/>
                <a:cs typeface="微软雅黑"/>
              </a:rPr>
              <a:t>1120 → 420 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69680" y="4809744"/>
            <a:ext cx="256032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666666"/>
                </a:solidFill>
                <a:latin typeface="Arial"/>
                <a:ea typeface="微软雅黑"/>
                <a:cs typeface="微软雅黑"/>
              </a:rPr>
              <a:t>B2B 案例 CAC 下降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5340096"/>
            <a:ext cx="11091672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4B896"/>
            </a:solidFill>
          </a:ln>
          <a:effectLst>
            <a:outerShdw blurRad="60000" dist="20000" dir="5400000" rotWithShape="0">
              <a:srgbClr val="1A1A1F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5504688"/>
            <a:ext cx="1097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latin typeface="Georgia"/>
                <a:ea typeface="微软雅黑"/>
                <a:cs typeface="微软雅黑"/>
                <a:gradFill>
                  <a:gsLst>
                    <a:gs pos="0">
                      <a:srgbClr val="B8956A"/>
                    </a:gs>
                    <a:gs pos="50000">
                      <a:srgbClr val="D4B896"/>
                    </a:gs>
                    <a:gs pos="100000">
                      <a:srgbClr val="9C7A4E"/>
                    </a:gs>
                  </a:gsLst>
                  <a:lin ang="0" scaled="1"/>
                </a:gradFill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28800" y="5504688"/>
            <a:ext cx="3200400" cy="6400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222222"/>
                </a:solidFill>
                <a:latin typeface="Georgia"/>
                <a:ea typeface="微软雅黑"/>
                <a:cs typeface="微软雅黑"/>
              </a:rPr>
              <a:t>私域 SCRM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37760" y="5504688"/>
            <a:ext cx="3931920" cy="6400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666666"/>
                </a:solidFill>
                <a:latin typeface="Arial"/>
                <a:ea typeface="微软雅黑"/>
                <a:cs typeface="微软雅黑"/>
              </a:rPr>
              <a:t>微伴 + 企微 · 全域线索沉淀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69680" y="5449824"/>
            <a:ext cx="2560320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spcAft>
                <a:spcPts val="200"/>
              </a:spcAft>
            </a:pPr>
            <a:r>
              <a:rPr sz="1700" b="1">
                <a:solidFill>
                  <a:srgbClr val="9C7A4E"/>
                </a:solidFill>
                <a:latin typeface="Consolas"/>
                <a:ea typeface="微软雅黑"/>
                <a:cs typeface="微软雅黑"/>
              </a:rPr>
              <a:t>85%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69680" y="5888736"/>
            <a:ext cx="256032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666666"/>
                </a:solidFill>
                <a:latin typeface="Arial"/>
                <a:ea typeface="微软雅黑"/>
                <a:cs typeface="微软雅黑"/>
              </a:rPr>
              <a:t>企业列为年度核心需求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7620">
            <a:solidFill>
              <a:srgbClr val="9C7A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666666"/>
                </a:solidFill>
                <a:latin typeface="Georgia"/>
                <a:ea typeface="微软雅黑"/>
                <a:cs typeface="微软雅黑"/>
              </a:rPr>
              <a:t>WUJIE AI · INTELLIGENCE ENGINEERED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92640" y="6492240"/>
            <a:ext cx="1947672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666666"/>
                </a:solidFill>
                <a:latin typeface="Consolas"/>
                <a:ea typeface="微软雅黑"/>
                <a:cs typeface="微软雅黑"/>
              </a:rPr>
              <a:t>06 / 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9C7A4E"/>
                </a:solidFill>
                <a:latin typeface="Georgia"/>
                <a:ea typeface="微软雅黑"/>
                <a:cs typeface="微软雅黑"/>
              </a:rPr>
              <a:t>WUJIE AI · 视频生成双雄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713232"/>
            <a:ext cx="1463040" cy="0"/>
          </a:xfrm>
          <a:prstGeom prst="line">
            <a:avLst/>
          </a:prstGeom>
          <a:ln w="1524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400" b="1">
                <a:latin typeface="Georgia"/>
                <a:ea typeface="微软雅黑"/>
                <a:cs typeface="微软雅黑"/>
                <a:gradFill>
                  <a:gsLst>
                    <a:gs pos="0">
                      <a:srgbClr val="B8956A"/>
                    </a:gs>
                    <a:gs pos="50000">
                      <a:srgbClr val="D4B896"/>
                    </a:gs>
                    <a:gs pos="100000">
                      <a:srgbClr val="9C7A4E"/>
                    </a:gs>
                  </a:gsLst>
                  <a:lin ang="0" scaled="1"/>
                </a:gradFill>
              </a:rPr>
              <a:t>2026 AI 视频生成 双雄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1097280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666666"/>
                </a:solidFill>
                <a:latin typeface="Arial"/>
                <a:ea typeface="微软雅黑"/>
                <a:cs typeface="微软雅黑"/>
              </a:rPr>
              <a:t>可灵 3.0 Pro · Seedance 2.0 — 中文商用 + 抖音生态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03120"/>
            <a:ext cx="5349240" cy="3474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4B896"/>
            </a:solidFill>
          </a:ln>
          <a:effectLst>
            <a:outerShdw blurRad="60000" dist="20000" dir="5400000" rotWithShape="0">
              <a:srgbClr val="1A1A1F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2286000"/>
            <a:ext cx="480060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222222"/>
                </a:solidFill>
                <a:latin typeface="Georgia"/>
                <a:ea typeface="微软雅黑"/>
                <a:cs typeface="微软雅黑"/>
              </a:rPr>
              <a:t>可灵 3.0 Pro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834640"/>
            <a:ext cx="480060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9C7A4E"/>
                </a:solidFill>
                <a:latin typeface="Arial"/>
                <a:ea typeface="微软雅黑"/>
                <a:cs typeface="微软雅黑"/>
              </a:rPr>
              <a:t>中文商用首选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2331720"/>
            <a:ext cx="1188720" cy="320040"/>
          </a:xfrm>
          <a:prstGeom prst="roundRect">
            <a:avLst>
              <a:gd name="adj" fmla="val 50000"/>
            </a:avLst>
          </a:prstGeom>
          <a:ln>
            <a:noFill/>
          </a:ln>
          <a:gradFill>
            <a:gsLst>
              <a:gs pos="0">
                <a:srgbClr val="B8956A"/>
              </a:gs>
              <a:gs pos="100000">
                <a:srgbClr val="9C7A4E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34840" y="2350008"/>
            <a:ext cx="1188720" cy="3200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Georgia"/>
                <a:ea typeface="微软雅黑"/>
                <a:cs typeface="微软雅黑"/>
              </a:rPr>
              <a:t>商用首选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59" y="3291840"/>
            <a:ext cx="4800601" cy="0"/>
          </a:xfrm>
          <a:prstGeom prst="line">
            <a:avLst/>
          </a:prstGeom>
          <a:ln w="7620">
            <a:solidFill>
              <a:srgbClr val="D4B8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59" y="3429000"/>
            <a:ext cx="4800600" cy="2011680"/>
          </a:xfrm>
          <a:prstGeom prst="rect">
            <a:avLst/>
          </a:prstGeom>
          <a:noFill/>
        </p:spPr>
        <p:txBody>
          <a:bodyPr wrap="square" lIns="50800" rIns="50800" tIns="50800" bIns="50800" anchor="t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200" b="1">
                <a:solidFill>
                  <a:srgbClr val="B8956A"/>
                </a:solidFill>
                <a:latin typeface="Consolas"/>
                <a:ea typeface="微软雅黑"/>
                <a:cs typeface="微软雅黑"/>
              </a:rPr>
              <a:t>▸ </a:t>
            </a:r>
            <a:r>
              <a:rPr sz="1300" b="1">
                <a:solidFill>
                  <a:srgbClr val="9C7A4E"/>
                </a:solidFill>
                <a:latin typeface="Consolas"/>
                <a:ea typeface="微软雅黑"/>
                <a:cs typeface="微软雅黑"/>
              </a:rPr>
              <a:t>1240 ELO  </a:t>
            </a:r>
            <a:r>
              <a:rPr sz="1100" b="0">
                <a:solidFill>
                  <a:srgbClr val="222222"/>
                </a:solidFill>
                <a:latin typeface="Arial"/>
                <a:ea typeface="微软雅黑"/>
                <a:cs typeface="微软雅黑"/>
              </a:rPr>
              <a:t>登顶视频生成榜单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200" b="1">
                <a:solidFill>
                  <a:srgbClr val="B8956A"/>
                </a:solidFill>
                <a:latin typeface="Consolas"/>
                <a:ea typeface="微软雅黑"/>
                <a:cs typeface="微软雅黑"/>
              </a:rPr>
              <a:t>▸ </a:t>
            </a:r>
            <a:r>
              <a:rPr sz="1300" b="1">
                <a:solidFill>
                  <a:srgbClr val="9C7A4E"/>
                </a:solidFill>
                <a:latin typeface="Consolas"/>
                <a:ea typeface="微软雅黑"/>
                <a:cs typeface="微软雅黑"/>
              </a:rPr>
              <a:t>3 万+ 企业  </a:t>
            </a:r>
            <a:r>
              <a:rPr sz="1100" b="0">
                <a:solidFill>
                  <a:srgbClr val="222222"/>
                </a:solidFill>
                <a:latin typeface="Arial"/>
                <a:ea typeface="微软雅黑"/>
                <a:cs typeface="微软雅黑"/>
              </a:rPr>
              <a:t>商用客户基础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200" b="1">
                <a:solidFill>
                  <a:srgbClr val="B8956A"/>
                </a:solidFill>
                <a:latin typeface="Consolas"/>
                <a:ea typeface="微软雅黑"/>
                <a:cs typeface="微软雅黑"/>
              </a:rPr>
              <a:t>▸ </a:t>
            </a:r>
            <a:r>
              <a:rPr sz="1300" b="1">
                <a:solidFill>
                  <a:srgbClr val="9C7A4E"/>
                </a:solidFill>
                <a:latin typeface="Consolas"/>
                <a:ea typeface="微软雅黑"/>
                <a:cs typeface="微软雅黑"/>
              </a:rPr>
              <a:t>149 国  </a:t>
            </a:r>
            <a:r>
              <a:rPr sz="1100" b="0">
                <a:solidFill>
                  <a:srgbClr val="222222"/>
                </a:solidFill>
                <a:latin typeface="Arial"/>
                <a:ea typeface="微软雅黑"/>
                <a:cs typeface="微软雅黑"/>
              </a:rPr>
              <a:t>全球覆盖范围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200" b="1">
                <a:solidFill>
                  <a:srgbClr val="B8956A"/>
                </a:solidFill>
                <a:latin typeface="Consolas"/>
                <a:ea typeface="微软雅黑"/>
                <a:cs typeface="微软雅黑"/>
              </a:rPr>
              <a:t>▸ </a:t>
            </a:r>
            <a:r>
              <a:rPr sz="1300" b="1">
                <a:solidFill>
                  <a:srgbClr val="9C7A4E"/>
                </a:solidFill>
                <a:latin typeface="Consolas"/>
                <a:ea typeface="微软雅黑"/>
                <a:cs typeface="微软雅黑"/>
              </a:rPr>
              <a:t>原生中文  </a:t>
            </a:r>
            <a:r>
              <a:rPr sz="1100" b="0">
                <a:solidFill>
                  <a:srgbClr val="222222"/>
                </a:solidFill>
                <a:latin typeface="Arial"/>
                <a:ea typeface="微软雅黑"/>
                <a:cs typeface="微软雅黑"/>
              </a:rPr>
              <a:t>语义理解准确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2103120"/>
            <a:ext cx="5349240" cy="3474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4B896"/>
            </a:solidFill>
          </a:ln>
          <a:effectLst>
            <a:outerShdw blurRad="60000" dist="20000" dir="5400000" rotWithShape="0">
              <a:srgbClr val="1A1A1F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59" y="2286000"/>
            <a:ext cx="480060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222222"/>
                </a:solidFill>
                <a:latin typeface="Georgia"/>
                <a:ea typeface="微软雅黑"/>
                <a:cs typeface="微软雅黑"/>
              </a:rPr>
              <a:t>Seedance 2.0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59" y="2834640"/>
            <a:ext cx="480060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9C7A4E"/>
                </a:solidFill>
                <a:latin typeface="Arial"/>
                <a:ea typeface="微软雅黑"/>
                <a:cs typeface="微软雅黑"/>
              </a:rPr>
              <a:t>抖音生态原生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149840" y="2331720"/>
            <a:ext cx="1188720" cy="320040"/>
          </a:xfrm>
          <a:prstGeom prst="roundRect">
            <a:avLst>
              <a:gd name="adj" fmla="val 50000"/>
            </a:avLst>
          </a:prstGeom>
          <a:ln>
            <a:noFill/>
          </a:ln>
          <a:gradFill>
            <a:gsLst>
              <a:gs pos="0">
                <a:srgbClr val="B8956A"/>
              </a:gs>
              <a:gs pos="100000">
                <a:srgbClr val="9C7A4E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149840" y="2350008"/>
            <a:ext cx="1188720" cy="3200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Georgia"/>
                <a:ea typeface="微软雅黑"/>
                <a:cs typeface="微软雅黑"/>
              </a:rPr>
              <a:t>短剧量产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537959" y="3291840"/>
            <a:ext cx="4800600" cy="0"/>
          </a:xfrm>
          <a:prstGeom prst="line">
            <a:avLst/>
          </a:prstGeom>
          <a:ln w="7620">
            <a:solidFill>
              <a:srgbClr val="D4B8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537959" y="3429000"/>
            <a:ext cx="4800600" cy="2011680"/>
          </a:xfrm>
          <a:prstGeom prst="rect">
            <a:avLst/>
          </a:prstGeom>
          <a:noFill/>
        </p:spPr>
        <p:txBody>
          <a:bodyPr wrap="square" lIns="50800" rIns="50800" tIns="50800" bIns="50800" anchor="t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200" b="1">
                <a:solidFill>
                  <a:srgbClr val="B8956A"/>
                </a:solidFill>
                <a:latin typeface="Consolas"/>
                <a:ea typeface="微软雅黑"/>
                <a:cs typeface="微软雅黑"/>
              </a:rPr>
              <a:t>▸ </a:t>
            </a:r>
            <a:r>
              <a:rPr sz="1300" b="1">
                <a:solidFill>
                  <a:srgbClr val="9C7A4E"/>
                </a:solidFill>
                <a:latin typeface="Consolas"/>
                <a:ea typeface="微软雅黑"/>
                <a:cs typeface="微软雅黑"/>
              </a:rPr>
              <a:t>¥1/秒  </a:t>
            </a:r>
            <a:r>
              <a:rPr sz="1100" b="0">
                <a:solidFill>
                  <a:srgbClr val="222222"/>
                </a:solidFill>
                <a:latin typeface="Arial"/>
                <a:ea typeface="微软雅黑"/>
                <a:cs typeface="微软雅黑"/>
              </a:rPr>
              <a:t>成本极限极低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200" b="1">
                <a:solidFill>
                  <a:srgbClr val="B8956A"/>
                </a:solidFill>
                <a:latin typeface="Consolas"/>
                <a:ea typeface="微软雅黑"/>
                <a:cs typeface="微软雅黑"/>
              </a:rPr>
              <a:t>▸ </a:t>
            </a:r>
            <a:r>
              <a:rPr sz="1300" b="1">
                <a:solidFill>
                  <a:srgbClr val="9C7A4E"/>
                </a:solidFill>
                <a:latin typeface="Consolas"/>
                <a:ea typeface="微软雅黑"/>
                <a:cs typeface="微软雅黑"/>
              </a:rPr>
              <a:t>日营收 ¥4000 万  </a:t>
            </a:r>
            <a:r>
              <a:rPr sz="1100" b="0">
                <a:solidFill>
                  <a:srgbClr val="222222"/>
                </a:solidFill>
                <a:latin typeface="Arial"/>
                <a:ea typeface="微软雅黑"/>
                <a:cs typeface="微软雅黑"/>
              </a:rPr>
              <a:t>商业化跑通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200" b="1">
                <a:solidFill>
                  <a:srgbClr val="B8956A"/>
                </a:solidFill>
                <a:latin typeface="Consolas"/>
                <a:ea typeface="微软雅黑"/>
                <a:cs typeface="微软雅黑"/>
              </a:rPr>
              <a:t>▸ </a:t>
            </a:r>
            <a:r>
              <a:rPr sz="1300" b="1">
                <a:solidFill>
                  <a:srgbClr val="9C7A4E"/>
                </a:solidFill>
                <a:latin typeface="Consolas"/>
                <a:ea typeface="微软雅黑"/>
                <a:cs typeface="微软雅黑"/>
              </a:rPr>
              <a:t>多镜头叙事  </a:t>
            </a:r>
            <a:r>
              <a:rPr sz="1100" b="0">
                <a:solidFill>
                  <a:srgbClr val="222222"/>
                </a:solidFill>
                <a:latin typeface="Arial"/>
                <a:ea typeface="微软雅黑"/>
                <a:cs typeface="微软雅黑"/>
              </a:rPr>
              <a:t>短剧量产能力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200" b="1">
                <a:solidFill>
                  <a:srgbClr val="B8956A"/>
                </a:solidFill>
                <a:latin typeface="Consolas"/>
                <a:ea typeface="微软雅黑"/>
                <a:cs typeface="微软雅黑"/>
              </a:rPr>
              <a:t>▸ </a:t>
            </a:r>
            <a:r>
              <a:rPr sz="1300" b="1">
                <a:solidFill>
                  <a:srgbClr val="9C7A4E"/>
                </a:solidFill>
                <a:latin typeface="Consolas"/>
                <a:ea typeface="微软雅黑"/>
                <a:cs typeface="微软雅黑"/>
              </a:rPr>
              <a:t>抖音生态  </a:t>
            </a:r>
            <a:r>
              <a:rPr sz="1100" b="0">
                <a:solidFill>
                  <a:srgbClr val="222222"/>
                </a:solidFill>
                <a:latin typeface="Arial"/>
                <a:ea typeface="微软雅黑"/>
                <a:cs typeface="微软雅黑"/>
              </a:rPr>
              <a:t>原生分发链路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48640" y="5852160"/>
            <a:ext cx="11091672" cy="0"/>
          </a:xfrm>
          <a:prstGeom prst="line">
            <a:avLst/>
          </a:prstGeom>
          <a:ln w="7620">
            <a:solidFill>
              <a:srgbClr val="D4B8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548640" y="5943600"/>
            <a:ext cx="11091672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50" b="1">
                <a:solidFill>
                  <a:srgbClr val="9C7A4E"/>
                </a:solidFill>
                <a:latin typeface="Georgia"/>
                <a:ea typeface="微软雅黑"/>
                <a:cs typeface="微软雅黑"/>
              </a:rPr>
              <a:t>企业落地公式 = 可灵（中文商用）+ Seedance（抖音生态）+ Wan 2.7（私有化）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7620">
            <a:solidFill>
              <a:srgbClr val="9C7A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666666"/>
                </a:solidFill>
                <a:latin typeface="Georgia"/>
                <a:ea typeface="微软雅黑"/>
                <a:cs typeface="微软雅黑"/>
              </a:rPr>
              <a:t>WUJIE AI · INTELLIGENCE ENGINEERED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92640" y="6492240"/>
            <a:ext cx="1947672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666666"/>
                </a:solidFill>
                <a:latin typeface="Consolas"/>
                <a:ea typeface="微软雅黑"/>
                <a:cs typeface="微软雅黑"/>
              </a:rPr>
              <a:t>07 / 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9C7A4E"/>
                </a:solidFill>
                <a:latin typeface="Georgia"/>
                <a:ea typeface="微软雅黑"/>
                <a:cs typeface="微软雅黑"/>
              </a:rPr>
              <a:t>WUJIE AI · AIGC 内容工厂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713232"/>
            <a:ext cx="1463040" cy="0"/>
          </a:xfrm>
          <a:prstGeom prst="line">
            <a:avLst/>
          </a:prstGeom>
          <a:ln w="1524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latin typeface="Georgia"/>
                <a:ea typeface="微软雅黑"/>
                <a:cs typeface="微软雅黑"/>
                <a:gradFill>
                  <a:gsLst>
                    <a:gs pos="0">
                      <a:srgbClr val="B8956A"/>
                    </a:gs>
                    <a:gs pos="50000">
                      <a:srgbClr val="D4B896"/>
                    </a:gs>
                    <a:gs pos="100000">
                      <a:srgbClr val="9C7A4E"/>
                    </a:gs>
                  </a:gsLst>
                  <a:lin ang="0" scaled="1"/>
                </a:gradFill>
              </a:rPr>
              <a:t>AIGC 内容工厂 · 1 → 1000 变体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1097280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666666"/>
                </a:solidFill>
                <a:latin typeface="Arial"/>
                <a:ea typeface="微软雅黑"/>
                <a:cs typeface="微软雅黑"/>
              </a:rPr>
              <a:t>主创意一次输入 · 千变素材自动产出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03120"/>
            <a:ext cx="557784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4B896"/>
            </a:solidFill>
          </a:ln>
          <a:effectLst>
            <a:outerShdw blurRad="60000" dist="20000" dir="5400000" rotWithShape="0">
              <a:srgbClr val="1A1A1F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240280"/>
            <a:ext cx="512064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9C7A4E"/>
                </a:solidFill>
                <a:latin typeface="Georgia"/>
                <a:ea typeface="微软雅黑"/>
                <a:cs typeface="微软雅黑"/>
              </a:rPr>
              <a:t>技术栈 · TECH STACK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2697480"/>
            <a:ext cx="5120639" cy="0"/>
          </a:xfrm>
          <a:prstGeom prst="line">
            <a:avLst/>
          </a:prstGeom>
          <a:ln w="7620">
            <a:solidFill>
              <a:srgbClr val="D4B8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2788920"/>
            <a:ext cx="5120640" cy="3108960"/>
          </a:xfrm>
          <a:prstGeom prst="rect">
            <a:avLst/>
          </a:prstGeom>
          <a:noFill/>
        </p:spPr>
        <p:txBody>
          <a:bodyPr wrap="square" lIns="50800" rIns="50800" tIns="50800" bIns="50800" anchor="t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200" b="1">
                <a:solidFill>
                  <a:srgbClr val="222222"/>
                </a:solidFill>
                <a:latin typeface="Arial"/>
                <a:ea typeface="微软雅黑"/>
                <a:cs typeface="微软雅黑"/>
              </a:rPr>
              <a:t>图片 </a:t>
            </a:r>
            <a:r>
              <a:rPr sz="1200" b="1">
                <a:solidFill>
                  <a:srgbClr val="9C7A4E"/>
                </a:solidFill>
                <a:latin typeface="Consolas"/>
                <a:ea typeface="微软雅黑"/>
                <a:cs typeface="微软雅黑"/>
              </a:rPr>
              <a:t>GPT-Image-2</a:t>
            </a:r>
            <a:r>
              <a:rPr sz="1050" b="0">
                <a:solidFill>
                  <a:srgbClr val="666666"/>
                </a:solidFill>
                <a:latin typeface="Consolas"/>
                <a:ea typeface="微软雅黑"/>
                <a:cs typeface="微软雅黑"/>
              </a:rPr>
              <a:t> ($0.006/张 · 文字 99%)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050" b="0">
                <a:solidFill>
                  <a:srgbClr val="222222"/>
                </a:solidFill>
                <a:latin typeface="Arial"/>
                <a:ea typeface="微软雅黑"/>
                <a:cs typeface="微软雅黑"/>
              </a:rPr>
              <a:t>        Firefly 5 · 商用 indemnity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050" b="0">
                <a:solidFill>
                  <a:srgbClr val="222222"/>
                </a:solidFill>
                <a:latin typeface="Arial"/>
                <a:ea typeface="微软雅黑"/>
                <a:cs typeface="微软雅黑"/>
              </a:rPr>
              <a:t>        Flux 2 Klein · Apache 2.0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200" b="1">
                <a:solidFill>
                  <a:srgbClr val="222222"/>
                </a:solidFill>
                <a:latin typeface="Arial"/>
                <a:ea typeface="微软雅黑"/>
                <a:cs typeface="微软雅黑"/>
              </a:rPr>
              <a:t>文案 </a:t>
            </a:r>
            <a:r>
              <a:rPr sz="1200" b="1">
                <a:solidFill>
                  <a:srgbClr val="9C7A4E"/>
                </a:solidFill>
                <a:latin typeface="Consolas"/>
                <a:ea typeface="微软雅黑"/>
                <a:cs typeface="微软雅黑"/>
              </a:rPr>
              <a:t>GPT-5.6</a:t>
            </a:r>
            <a:r>
              <a:rPr sz="1050" b="0">
                <a:solidFill>
                  <a:srgbClr val="666666"/>
                </a:solidFill>
                <a:latin typeface="Consolas"/>
                <a:ea typeface="微软雅黑"/>
                <a:cs typeface="微软雅黑"/>
              </a:rPr>
              <a:t> + Jasper Brand Voice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200" b="1">
                <a:solidFill>
                  <a:srgbClr val="9C7A4E"/>
                </a:solidFill>
                <a:latin typeface="Consolas"/>
                <a:ea typeface="微软雅黑"/>
                <a:cs typeface="微软雅黑"/>
              </a:rPr>
              <a:t>        Claude Opus 4.8</a:t>
            </a:r>
            <a:r>
              <a:rPr sz="1050" b="0">
                <a:solidFill>
                  <a:srgbClr val="666666"/>
                </a:solidFill>
                <a:latin typeface="Arial"/>
                <a:ea typeface="微软雅黑"/>
                <a:cs typeface="微软雅黑"/>
              </a:rPr>
              <a:t> · 合规模型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200" b="1">
                <a:solidFill>
                  <a:srgbClr val="222222"/>
                </a:solidFill>
                <a:latin typeface="Arial"/>
                <a:ea typeface="微软雅黑"/>
                <a:cs typeface="微软雅黑"/>
              </a:rPr>
              <a:t>编排 </a:t>
            </a:r>
            <a:r>
              <a:rPr sz="1200" b="1">
                <a:solidFill>
                  <a:srgbClr val="9C7A4E"/>
                </a:solidFill>
                <a:latin typeface="Consolas"/>
                <a:ea typeface="微软雅黑"/>
                <a:cs typeface="微软雅黑"/>
              </a:rPr>
              <a:t>Dify / Coze / n8n</a:t>
            </a:r>
            <a:r>
              <a:rPr sz="1050" b="0">
                <a:solidFill>
                  <a:srgbClr val="666666"/>
                </a:solidFill>
                <a:latin typeface="Consolas"/>
                <a:ea typeface="微软雅黑"/>
                <a:cs typeface="微软雅黑"/>
              </a:rPr>
              <a:t> + MCP 协议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600" b="0">
                <a:solidFill>
                  <a:srgbClr val="222222"/>
                </a:solidFill>
                <a:latin typeface="Arial"/>
                <a:ea typeface="微软雅黑"/>
                <a:cs typeface="微软雅黑"/>
              </a:rPr>
              <a:t>  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100" b="1">
                <a:solidFill>
                  <a:srgbClr val="B8956A"/>
                </a:solidFill>
                <a:latin typeface="Consolas"/>
                <a:ea typeface="微软雅黑"/>
                <a:cs typeface="微软雅黑"/>
              </a:rPr>
              <a:t>▸ </a:t>
            </a:r>
            <a:r>
              <a:rPr sz="1100" b="0">
                <a:solidFill>
                  <a:srgbClr val="222222"/>
                </a:solidFill>
                <a:latin typeface="Arial"/>
                <a:ea typeface="微软雅黑"/>
                <a:cs typeface="微软雅黑"/>
              </a:rPr>
              <a:t>单条素材成本压至 1/30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100" b="1">
                <a:solidFill>
                  <a:srgbClr val="B8956A"/>
                </a:solidFill>
                <a:latin typeface="Consolas"/>
                <a:ea typeface="微软雅黑"/>
                <a:cs typeface="微软雅黑"/>
              </a:rPr>
              <a:t>▸ </a:t>
            </a:r>
            <a:r>
              <a:rPr sz="1100" b="0">
                <a:solidFill>
                  <a:srgbClr val="222222"/>
                </a:solidFill>
                <a:latin typeface="Arial"/>
                <a:ea typeface="微软雅黑"/>
                <a:cs typeface="微软雅黑"/>
              </a:rPr>
              <a:t>SKU 上新产能从 24h → 5 分钟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2103120"/>
            <a:ext cx="534924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4B896"/>
            </a:solidFill>
          </a:ln>
          <a:effectLst>
            <a:outerShdw blurRad="60000" dist="20000" dir="5400000" rotWithShape="0">
              <a:srgbClr val="1A1A1F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2240280"/>
            <a:ext cx="493776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9C7A4E"/>
                </a:solidFill>
                <a:latin typeface="Georgia"/>
                <a:ea typeface="微软雅黑"/>
                <a:cs typeface="微软雅黑"/>
              </a:rPr>
              <a:t>7 步流程 · PIPELINE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492240" y="2697480"/>
            <a:ext cx="4937760" cy="0"/>
          </a:xfrm>
          <a:prstGeom prst="line">
            <a:avLst/>
          </a:prstGeom>
          <a:ln w="7620">
            <a:solidFill>
              <a:srgbClr val="D4B8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6583680" y="2995313"/>
            <a:ext cx="109728" cy="109728"/>
          </a:xfrm>
          <a:prstGeom prst="ellipse">
            <a:avLst/>
          </a:prstGeom>
          <a:solidFill>
            <a:srgbClr val="B895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84848" y="2834640"/>
            <a:ext cx="4645152" cy="431074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222222"/>
                </a:solidFill>
                <a:latin typeface="Arial"/>
                <a:ea typeface="微软雅黑"/>
                <a:cs typeface="微软雅黑"/>
              </a:rPr>
              <a:t>01  主创意 Brief 输入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638544" y="3105041"/>
            <a:ext cx="0" cy="321346"/>
          </a:xfrm>
          <a:prstGeom prst="line">
            <a:avLst/>
          </a:prstGeom>
          <a:ln w="9525">
            <a:solidFill>
              <a:srgbClr val="D4B8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/>
          <p:cNvSpPr/>
          <p:nvPr/>
        </p:nvSpPr>
        <p:spPr>
          <a:xfrm>
            <a:off x="6583680" y="3426387"/>
            <a:ext cx="109728" cy="109728"/>
          </a:xfrm>
          <a:prstGeom prst="ellipse">
            <a:avLst/>
          </a:prstGeom>
          <a:solidFill>
            <a:srgbClr val="B895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84848" y="3265714"/>
            <a:ext cx="4645152" cy="431074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222222"/>
                </a:solidFill>
                <a:latin typeface="Arial"/>
                <a:ea typeface="微软雅黑"/>
                <a:cs typeface="微软雅黑"/>
              </a:rPr>
              <a:t>02  LLM 生成 1000 文案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638544" y="3536115"/>
            <a:ext cx="0" cy="321346"/>
          </a:xfrm>
          <a:prstGeom prst="line">
            <a:avLst/>
          </a:prstGeom>
          <a:ln w="9525">
            <a:solidFill>
              <a:srgbClr val="D4B8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6583680" y="3857461"/>
            <a:ext cx="109728" cy="109728"/>
          </a:xfrm>
          <a:prstGeom prst="ellipse">
            <a:avLst/>
          </a:prstGeom>
          <a:solidFill>
            <a:srgbClr val="B895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84848" y="3696788"/>
            <a:ext cx="4645152" cy="431074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222222"/>
                </a:solidFill>
                <a:latin typeface="Arial"/>
                <a:ea typeface="微软雅黑"/>
                <a:cs typeface="微软雅黑"/>
              </a:rPr>
              <a:t>03  文生图 1000 图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638544" y="3967189"/>
            <a:ext cx="0" cy="321347"/>
          </a:xfrm>
          <a:prstGeom prst="line">
            <a:avLst/>
          </a:prstGeom>
          <a:ln w="9525">
            <a:solidFill>
              <a:srgbClr val="D4B8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6583680" y="4288536"/>
            <a:ext cx="109728" cy="109728"/>
          </a:xfrm>
          <a:prstGeom prst="ellipse">
            <a:avLst/>
          </a:prstGeom>
          <a:solidFill>
            <a:srgbClr val="B895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84848" y="4127862"/>
            <a:ext cx="4645152" cy="431074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222222"/>
                </a:solidFill>
                <a:latin typeface="Arial"/>
                <a:ea typeface="微软雅黑"/>
                <a:cs typeface="微软雅黑"/>
              </a:rPr>
              <a:t>04  数字人合成视频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638544" y="4398264"/>
            <a:ext cx="0" cy="321346"/>
          </a:xfrm>
          <a:prstGeom prst="line">
            <a:avLst/>
          </a:prstGeom>
          <a:ln w="9525">
            <a:solidFill>
              <a:srgbClr val="D4B8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6583680" y="4719610"/>
            <a:ext cx="109728" cy="109728"/>
          </a:xfrm>
          <a:prstGeom prst="ellipse">
            <a:avLst/>
          </a:prstGeom>
          <a:solidFill>
            <a:srgbClr val="B895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84848" y="4558937"/>
            <a:ext cx="4645152" cy="431074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222222"/>
                </a:solidFill>
                <a:latin typeface="Arial"/>
                <a:ea typeface="微软雅黑"/>
                <a:cs typeface="微软雅黑"/>
              </a:rPr>
              <a:t>05  自动审核 (合规 + 品牌)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638544" y="4829338"/>
            <a:ext cx="0" cy="321346"/>
          </a:xfrm>
          <a:prstGeom prst="line">
            <a:avLst/>
          </a:prstGeom>
          <a:ln w="9525">
            <a:solidFill>
              <a:srgbClr val="D4B8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Oval 27"/>
          <p:cNvSpPr/>
          <p:nvPr/>
        </p:nvSpPr>
        <p:spPr>
          <a:xfrm>
            <a:off x="6583680" y="5150684"/>
            <a:ext cx="109728" cy="109728"/>
          </a:xfrm>
          <a:prstGeom prst="ellipse">
            <a:avLst/>
          </a:prstGeom>
          <a:solidFill>
            <a:srgbClr val="B895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84848" y="4990011"/>
            <a:ext cx="4645152" cy="431074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222222"/>
                </a:solidFill>
                <a:latin typeface="Arial"/>
                <a:ea typeface="微软雅黑"/>
                <a:cs typeface="微软雅黑"/>
              </a:rPr>
              <a:t>06  多平台投放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638544" y="5260412"/>
            <a:ext cx="0" cy="321346"/>
          </a:xfrm>
          <a:prstGeom prst="line">
            <a:avLst/>
          </a:prstGeom>
          <a:ln w="9525">
            <a:solidFill>
              <a:srgbClr val="D4B8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6583680" y="5581758"/>
            <a:ext cx="109728" cy="109728"/>
          </a:xfrm>
          <a:prstGeom prst="ellipse">
            <a:avLst/>
          </a:prstGeom>
          <a:solidFill>
            <a:srgbClr val="B895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784848" y="5421085"/>
            <a:ext cx="4645152" cy="431074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222222"/>
                </a:solidFill>
                <a:latin typeface="Arial"/>
                <a:ea typeface="微软雅黑"/>
                <a:cs typeface="微软雅黑"/>
              </a:rPr>
              <a:t>07  自动 A/B · 择优加预算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7620">
            <a:solidFill>
              <a:srgbClr val="9C7A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666666"/>
                </a:solidFill>
                <a:latin typeface="Georgia"/>
                <a:ea typeface="微软雅黑"/>
                <a:cs typeface="微软雅黑"/>
              </a:rPr>
              <a:t>WUJIE AI · INTELLIGENCE ENGINEERED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92640" y="6492240"/>
            <a:ext cx="1947672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666666"/>
                </a:solidFill>
                <a:latin typeface="Consolas"/>
                <a:ea typeface="微软雅黑"/>
                <a:cs typeface="微软雅黑"/>
              </a:rPr>
              <a:t>08 / 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9C7A4E"/>
                </a:solidFill>
                <a:latin typeface="Georgia"/>
                <a:ea typeface="微软雅黑"/>
                <a:cs typeface="微软雅黑"/>
              </a:rPr>
              <a:t>WUJIE AI · 数字人直播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713232"/>
            <a:ext cx="1463040" cy="0"/>
          </a:xfrm>
          <a:prstGeom prst="line">
            <a:avLst/>
          </a:prstGeom>
          <a:ln w="1524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400" b="1">
                <a:latin typeface="Georgia"/>
                <a:ea typeface="微软雅黑"/>
                <a:cs typeface="微软雅黑"/>
                <a:gradFill>
                  <a:gsLst>
                    <a:gs pos="0">
                      <a:srgbClr val="B8956A"/>
                    </a:gs>
                    <a:gs pos="50000">
                      <a:srgbClr val="D4B896"/>
                    </a:gs>
                    <a:gs pos="100000">
                      <a:srgbClr val="9C7A4E"/>
                    </a:gs>
                  </a:gsLst>
                  <a:lin ang="0" scaled="1"/>
                </a:gradFill>
              </a:rPr>
              <a:t>24h 无人带货 · 全球多语言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1097280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666666"/>
                </a:solidFill>
                <a:latin typeface="Arial"/>
                <a:ea typeface="微软雅黑"/>
                <a:cs typeface="微软雅黑"/>
              </a:rPr>
              <a:t>国内 · 海外 · 开源 三轨布局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03120"/>
            <a:ext cx="3593592" cy="3566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4B896"/>
            </a:solidFill>
          </a:ln>
          <a:effectLst>
            <a:outerShdw blurRad="60000" dist="20000" dir="5400000" rotWithShape="0">
              <a:srgbClr val="1A1A1F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2286000"/>
            <a:ext cx="3044952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9C7A4E"/>
                </a:solidFill>
                <a:latin typeface="Georgia"/>
                <a:ea typeface="微软雅黑"/>
                <a:cs typeface="微软雅黑"/>
              </a:rPr>
              <a:t>国内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651760"/>
            <a:ext cx="3044952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222222"/>
                </a:solidFill>
                <a:latin typeface="Georgia"/>
                <a:ea typeface="微软雅黑"/>
                <a:cs typeface="微软雅黑"/>
              </a:rPr>
              <a:t>中国数字人生态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22959" y="3200400"/>
            <a:ext cx="3044953" cy="0"/>
          </a:xfrm>
          <a:prstGeom prst="line">
            <a:avLst/>
          </a:prstGeom>
          <a:ln w="7620">
            <a:solidFill>
              <a:srgbClr val="D4B8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822959" y="3291840"/>
            <a:ext cx="3044952" cy="1463040"/>
          </a:xfrm>
          <a:prstGeom prst="rect">
            <a:avLst/>
          </a:prstGeom>
          <a:noFill/>
        </p:spPr>
        <p:txBody>
          <a:bodyPr wrap="square" lIns="50800" rIns="50800" tIns="50800" bIns="50800" anchor="t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100" b="1">
                <a:solidFill>
                  <a:srgbClr val="B8956A"/>
                </a:solidFill>
                <a:latin typeface="Consolas"/>
                <a:ea typeface="微软雅黑"/>
                <a:cs typeface="微软雅黑"/>
              </a:rPr>
              <a:t>▸ </a:t>
            </a:r>
            <a:r>
              <a:rPr sz="1100" b="0">
                <a:solidFill>
                  <a:srgbClr val="222222"/>
                </a:solidFill>
                <a:latin typeface="Arial"/>
                <a:ea typeface="微软雅黑"/>
                <a:cs typeface="微软雅黑"/>
              </a:rPr>
              <a:t>硅基智能 — 银行 / 电商直播主力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100" b="1">
                <a:solidFill>
                  <a:srgbClr val="B8956A"/>
                </a:solidFill>
                <a:latin typeface="Consolas"/>
                <a:ea typeface="微软雅黑"/>
                <a:cs typeface="微软雅黑"/>
              </a:rPr>
              <a:t>▸ </a:t>
            </a:r>
            <a:r>
              <a:rPr sz="1100" b="0">
                <a:solidFill>
                  <a:srgbClr val="222222"/>
                </a:solidFill>
                <a:latin typeface="Arial"/>
                <a:ea typeface="微软雅黑"/>
                <a:cs typeface="微软雅黑"/>
              </a:rPr>
              <a:t>百度曦灵 — 央媒 / 政企标杆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100" b="1">
                <a:solidFill>
                  <a:srgbClr val="B8956A"/>
                </a:solidFill>
                <a:latin typeface="Consolas"/>
                <a:ea typeface="微软雅黑"/>
                <a:cs typeface="微软雅黑"/>
              </a:rPr>
              <a:t>▸ </a:t>
            </a:r>
            <a:r>
              <a:rPr sz="1100" b="0">
                <a:solidFill>
                  <a:srgbClr val="222222"/>
                </a:solidFill>
                <a:latin typeface="Arial"/>
                <a:ea typeface="微软雅黑"/>
                <a:cs typeface="微软雅黑"/>
              </a:rPr>
              <a:t>腾讯智影 — 微信生态原生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4846320"/>
            <a:ext cx="3044952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9C7A4E"/>
                </a:solidFill>
                <a:latin typeface="Consolas"/>
                <a:ea typeface="微软雅黑"/>
                <a:cs typeface="微软雅黑"/>
              </a:rPr>
              <a:t>80 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" y="5349240"/>
            <a:ext cx="3044952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666666"/>
                </a:solidFill>
                <a:latin typeface="Arial"/>
                <a:ea typeface="微软雅黑"/>
                <a:cs typeface="微软雅黑"/>
              </a:rPr>
              <a:t>国内数字人市场规模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2103120"/>
            <a:ext cx="3593592" cy="3566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4B896"/>
            </a:solidFill>
          </a:ln>
          <a:effectLst>
            <a:outerShdw blurRad="60000" dist="20000" dir="5400000" rotWithShape="0">
              <a:srgbClr val="1A1A1F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2286000"/>
            <a:ext cx="3044952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9C7A4E"/>
                </a:solidFill>
                <a:latin typeface="Georgia"/>
                <a:ea typeface="微软雅黑"/>
                <a:cs typeface="微软雅黑"/>
              </a:rPr>
              <a:t>海外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2651760"/>
            <a:ext cx="3044952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222222"/>
                </a:solidFill>
                <a:latin typeface="Georgia"/>
                <a:ea typeface="微软雅黑"/>
                <a:cs typeface="微软雅黑"/>
              </a:rPr>
              <a:t>Global Leaders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572000" y="3200400"/>
            <a:ext cx="3044952" cy="0"/>
          </a:xfrm>
          <a:prstGeom prst="line">
            <a:avLst/>
          </a:prstGeom>
          <a:ln w="7620">
            <a:solidFill>
              <a:srgbClr val="D4B8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4572000" y="3291840"/>
            <a:ext cx="3044952" cy="1463040"/>
          </a:xfrm>
          <a:prstGeom prst="rect">
            <a:avLst/>
          </a:prstGeom>
          <a:noFill/>
        </p:spPr>
        <p:txBody>
          <a:bodyPr wrap="square" lIns="50800" rIns="50800" tIns="50800" bIns="50800" anchor="t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100" b="1">
                <a:solidFill>
                  <a:srgbClr val="B8956A"/>
                </a:solidFill>
                <a:latin typeface="Consolas"/>
                <a:ea typeface="微软雅黑"/>
                <a:cs typeface="微软雅黑"/>
              </a:rPr>
              <a:t>▸ </a:t>
            </a:r>
            <a:r>
              <a:rPr sz="1100" b="0">
                <a:solidFill>
                  <a:srgbClr val="222222"/>
                </a:solidFill>
                <a:latin typeface="Arial"/>
                <a:ea typeface="微软雅黑"/>
                <a:cs typeface="微软雅黑"/>
              </a:rPr>
              <a:t>HeyGen — 口型同步最精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100" b="1">
                <a:solidFill>
                  <a:srgbClr val="B8956A"/>
                </a:solidFill>
                <a:latin typeface="Consolas"/>
                <a:ea typeface="微软雅黑"/>
                <a:cs typeface="微软雅黑"/>
              </a:rPr>
              <a:t>▸ </a:t>
            </a:r>
            <a:r>
              <a:rPr sz="1100" b="0">
                <a:solidFill>
                  <a:srgbClr val="222222"/>
                </a:solidFill>
                <a:latin typeface="Arial"/>
                <a:ea typeface="微软雅黑"/>
                <a:cs typeface="微软雅黑"/>
              </a:rPr>
              <a:t>Synthesia — 企业级 SaaS 标杆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100" b="1">
                <a:solidFill>
                  <a:srgbClr val="B8956A"/>
                </a:solidFill>
                <a:latin typeface="Consolas"/>
                <a:ea typeface="微软雅黑"/>
                <a:cs typeface="微软雅黑"/>
              </a:rPr>
              <a:t>▸ </a:t>
            </a:r>
            <a:r>
              <a:rPr sz="1100" b="0">
                <a:solidFill>
                  <a:srgbClr val="222222"/>
                </a:solidFill>
                <a:latin typeface="Arial"/>
                <a:ea typeface="微软雅黑"/>
                <a:cs typeface="微软雅黑"/>
              </a:rPr>
              <a:t>D-ID — 实时交互数字人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4846320"/>
            <a:ext cx="3044952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9C7A4E"/>
                </a:solidFill>
                <a:latin typeface="Consolas"/>
                <a:ea typeface="微软雅黑"/>
                <a:cs typeface="微软雅黑"/>
              </a:rPr>
              <a:t>120+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5349240"/>
            <a:ext cx="3044952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666666"/>
                </a:solidFill>
                <a:latin typeface="Arial"/>
                <a:ea typeface="微软雅黑"/>
                <a:cs typeface="微软雅黑"/>
              </a:rPr>
              <a:t>支持语种 / 国家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46720" y="2103120"/>
            <a:ext cx="3593592" cy="3566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4B896"/>
            </a:solidFill>
          </a:ln>
          <a:effectLst>
            <a:outerShdw blurRad="60000" dist="20000" dir="5400000" rotWithShape="0">
              <a:srgbClr val="1A1A1F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21040" y="2286000"/>
            <a:ext cx="3044952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9C7A4E"/>
                </a:solidFill>
                <a:latin typeface="Georgia"/>
                <a:ea typeface="微软雅黑"/>
                <a:cs typeface="微软雅黑"/>
              </a:rPr>
              <a:t>开源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2651760"/>
            <a:ext cx="3044952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222222"/>
                </a:solidFill>
                <a:latin typeface="Georgia"/>
                <a:ea typeface="微软雅黑"/>
                <a:cs typeface="微软雅黑"/>
              </a:rPr>
              <a:t>Open Source Stack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321040" y="3200400"/>
            <a:ext cx="3044952" cy="0"/>
          </a:xfrm>
          <a:prstGeom prst="line">
            <a:avLst/>
          </a:prstGeom>
          <a:ln w="7620">
            <a:solidFill>
              <a:srgbClr val="D4B8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8321040" y="3291840"/>
            <a:ext cx="3044952" cy="1463040"/>
          </a:xfrm>
          <a:prstGeom prst="rect">
            <a:avLst/>
          </a:prstGeom>
          <a:noFill/>
        </p:spPr>
        <p:txBody>
          <a:bodyPr wrap="square" lIns="50800" rIns="50800" tIns="50800" bIns="50800" anchor="t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100" b="1">
                <a:solidFill>
                  <a:srgbClr val="B8956A"/>
                </a:solidFill>
                <a:latin typeface="Consolas"/>
                <a:ea typeface="微软雅黑"/>
                <a:cs typeface="微软雅黑"/>
              </a:rPr>
              <a:t>▸ </a:t>
            </a:r>
            <a:r>
              <a:rPr sz="1100" b="0">
                <a:solidFill>
                  <a:srgbClr val="222222"/>
                </a:solidFill>
                <a:latin typeface="Arial"/>
                <a:ea typeface="微软雅黑"/>
                <a:cs typeface="微软雅黑"/>
              </a:rPr>
              <a:t>Heygem — 本地批量，免费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100" b="1">
                <a:solidFill>
                  <a:srgbClr val="B8956A"/>
                </a:solidFill>
                <a:latin typeface="Consolas"/>
                <a:ea typeface="微软雅黑"/>
                <a:cs typeface="微软雅黑"/>
              </a:rPr>
              <a:t>▸ </a:t>
            </a:r>
            <a:r>
              <a:rPr sz="1100" b="0">
                <a:solidFill>
                  <a:srgbClr val="222222"/>
                </a:solidFill>
                <a:latin typeface="Arial"/>
                <a:ea typeface="微软雅黑"/>
                <a:cs typeface="微软雅黑"/>
              </a:rPr>
              <a:t>Wan 2.7 — 阿里达摩院开源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100" b="1">
                <a:solidFill>
                  <a:srgbClr val="B8956A"/>
                </a:solidFill>
                <a:latin typeface="Consolas"/>
                <a:ea typeface="微软雅黑"/>
                <a:cs typeface="微软雅黑"/>
              </a:rPr>
              <a:t>▸ </a:t>
            </a:r>
            <a:r>
              <a:rPr sz="1100" b="0">
                <a:solidFill>
                  <a:srgbClr val="222222"/>
                </a:solidFill>
                <a:latin typeface="Arial"/>
                <a:ea typeface="微软雅黑"/>
                <a:cs typeface="微软雅黑"/>
              </a:rPr>
              <a:t>SadTalker — 头像驱动研究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40" y="4846320"/>
            <a:ext cx="3044952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9C7A4E"/>
                </a:solidFill>
                <a:latin typeface="Consolas"/>
                <a:ea typeface="微软雅黑"/>
                <a:cs typeface="微软雅黑"/>
              </a:rPr>
              <a:t>¥0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21040" y="5349240"/>
            <a:ext cx="3044952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666666"/>
                </a:solidFill>
                <a:latin typeface="Arial"/>
                <a:ea typeface="微软雅黑"/>
                <a:cs typeface="微软雅黑"/>
              </a:rPr>
              <a:t>私有化部署边际成本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5897880"/>
            <a:ext cx="11091672" cy="411480"/>
          </a:xfrm>
          <a:prstGeom prst="roundRect">
            <a:avLst>
              <a:gd name="adj" fmla="val 40000"/>
            </a:avLst>
          </a:prstGeom>
          <a:ln>
            <a:noFill/>
          </a:ln>
          <a:gradFill>
            <a:gsLst>
              <a:gs pos="0">
                <a:srgbClr val="B8956A"/>
              </a:gs>
              <a:gs pos="100000">
                <a:srgbClr val="9C7A4E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5916168"/>
            <a:ext cx="11091672" cy="4114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软雅黑"/>
                <a:cs typeface="微软雅黑"/>
              </a:rPr>
              <a:t>某客户 3 个月：内容产出 +10 倍  ·  单获客成本 -42%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7620">
            <a:solidFill>
              <a:srgbClr val="9C7A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666666"/>
                </a:solidFill>
                <a:latin typeface="Georgia"/>
                <a:ea typeface="微软雅黑"/>
                <a:cs typeface="微软雅黑"/>
              </a:rPr>
              <a:t>WUJIE AI · INTELLIGENCE ENGINEERED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92640" y="6492240"/>
            <a:ext cx="1947672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666666"/>
                </a:solidFill>
                <a:latin typeface="Consolas"/>
                <a:ea typeface="微软雅黑"/>
                <a:cs typeface="微软雅黑"/>
              </a:rPr>
              <a:t>09 / 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9C7A4E"/>
                </a:solidFill>
                <a:latin typeface="Georgia"/>
                <a:ea typeface="微软雅黑"/>
                <a:cs typeface="微软雅黑"/>
              </a:rPr>
              <a:t>WUJIE AI · 数据闭环与归因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713232"/>
            <a:ext cx="1463040" cy="0"/>
          </a:xfrm>
          <a:prstGeom prst="line">
            <a:avLst/>
          </a:prstGeom>
          <a:ln w="1524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400" b="1">
                <a:latin typeface="Georgia"/>
                <a:ea typeface="微软雅黑"/>
                <a:cs typeface="微软雅黑"/>
                <a:gradFill>
                  <a:gsLst>
                    <a:gs pos="0">
                      <a:srgbClr val="B8956A"/>
                    </a:gs>
                    <a:gs pos="50000">
                      <a:srgbClr val="D4B896"/>
                    </a:gs>
                    <a:gs pos="100000">
                      <a:srgbClr val="9C7A4E"/>
                    </a:gs>
                  </a:gsLst>
                  <a:lin ang="0" scaled="1"/>
                </a:gradFill>
              </a:rPr>
              <a:t>CDP + AI 归因 · 闭环优化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1097280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666666"/>
                </a:solidFill>
                <a:latin typeface="Arial"/>
                <a:ea typeface="微软雅黑"/>
                <a:cs typeface="微软雅黑"/>
              </a:rPr>
              <a:t>从"我知道浪费了一半" → AI 因果归因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" y="7863840"/>
            <a:ext cx="10058400" cy="1143000"/>
          </a:xfrm>
          <a:prstGeom prst="roundRect">
            <a:avLst>
              <a:gd name="adj" fmla="val 10000"/>
            </a:avLst>
          </a:prstGeom>
          <a:ln>
            <a:noFill/>
          </a:ln>
          <a:gradFill>
            <a:gsLst>
              <a:gs pos="0">
                <a:srgbClr val="B8956A"/>
              </a:gs>
              <a:gs pos="100000">
                <a:srgbClr val="9C7A4E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8028431"/>
            <a:ext cx="164592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Georgia"/>
                <a:ea typeface="微软雅黑"/>
                <a:cs typeface="微软雅黑"/>
              </a:rPr>
              <a:t>数据层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280160" y="8549640"/>
            <a:ext cx="1188720" cy="0"/>
          </a:xfrm>
          <a:prstGeom prst="line">
            <a:avLst/>
          </a:prstGeom>
          <a:ln w="7620">
            <a:solidFill>
              <a:srgbClr val="D4B8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2926080" y="8028431"/>
            <a:ext cx="7863840" cy="8686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ConvertLab / 瓴羊 / 神策 CDP 整合全域数据 · 第一方数据资产化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05840" y="6355080"/>
            <a:ext cx="10058400" cy="1143000"/>
          </a:xfrm>
          <a:prstGeom prst="roundRect">
            <a:avLst>
              <a:gd name="adj" fmla="val 10000"/>
            </a:avLst>
          </a:prstGeom>
          <a:ln>
            <a:noFill/>
          </a:ln>
          <a:gradFill>
            <a:gsLst>
              <a:gs pos="0">
                <a:srgbClr val="B8956A"/>
              </a:gs>
              <a:gs pos="100000">
                <a:srgbClr val="9C7A4E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80160" y="6519672"/>
            <a:ext cx="164592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Georgia"/>
                <a:ea typeface="微软雅黑"/>
                <a:cs typeface="微软雅黑"/>
              </a:rPr>
              <a:t>模型层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280160" y="7040880"/>
            <a:ext cx="1188720" cy="0"/>
          </a:xfrm>
          <a:prstGeom prst="line">
            <a:avLst/>
          </a:prstGeom>
          <a:ln w="7620">
            <a:solidFill>
              <a:srgbClr val="D4B8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2926080" y="6519672"/>
            <a:ext cx="7863840" cy="8686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AI 预测生命周期 + 线索评分 + 多臂老虎机 (Bayesian + CUPED)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05840" y="4846320"/>
            <a:ext cx="10058400" cy="1143000"/>
          </a:xfrm>
          <a:prstGeom prst="roundRect">
            <a:avLst>
              <a:gd name="adj" fmla="val 10000"/>
            </a:avLst>
          </a:prstGeom>
          <a:ln>
            <a:noFill/>
          </a:ln>
          <a:gradFill>
            <a:gsLst>
              <a:gs pos="0">
                <a:srgbClr val="B8956A"/>
              </a:gs>
              <a:gs pos="100000">
                <a:srgbClr val="9C7A4E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80160" y="5010912"/>
            <a:ext cx="164592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Georgia"/>
                <a:ea typeface="微软雅黑"/>
                <a:cs typeface="微软雅黑"/>
              </a:rPr>
              <a:t>归因层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280160" y="5532120"/>
            <a:ext cx="1188720" cy="0"/>
          </a:xfrm>
          <a:prstGeom prst="line">
            <a:avLst/>
          </a:prstGeom>
          <a:ln w="7620">
            <a:solidFill>
              <a:srgbClr val="D4B8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2926080" y="5010912"/>
            <a:ext cx="7863840" cy="8686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Google LightweightMMM + Rockerbox 三合一 + TTD 隐私合规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6126480"/>
            <a:ext cx="11091672" cy="502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B8956A"/>
            </a:solidFill>
          </a:ln>
          <a:effectLst>
            <a:outerShdw blurRad="60000" dist="20000" dir="5400000" rotWithShape="0">
              <a:srgbClr val="1A1A1F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6153912"/>
            <a:ext cx="10972800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9C7A4E"/>
                </a:solidFill>
                <a:latin typeface="Georgia"/>
                <a:ea typeface="微软雅黑"/>
                <a:cs typeface="微软雅黑"/>
              </a:rPr>
              <a:t>真实案例：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222222"/>
                </a:solidFill>
                <a:latin typeface="Arial"/>
                <a:ea typeface="微软雅黑"/>
                <a:cs typeface="微软雅黑"/>
              </a:rPr>
              <a:t>企业服务团队月预算 2 万 → 8 千，获客成本反降 40%（行为反推意图 + 归因透明化）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7620">
            <a:solidFill>
              <a:srgbClr val="9C7A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666666"/>
                </a:solidFill>
                <a:latin typeface="Georgia"/>
                <a:ea typeface="微软雅黑"/>
                <a:cs typeface="微软雅黑"/>
              </a:rPr>
              <a:t>WUJIE AI · INTELLIGENCE ENGINEERED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92640" y="6492240"/>
            <a:ext cx="1947672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666666"/>
                </a:solidFill>
                <a:latin typeface="Consolas"/>
                <a:ea typeface="微软雅黑"/>
                <a:cs typeface="微软雅黑"/>
              </a:rPr>
              <a:t>10 / 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9C7A4E"/>
                </a:solidFill>
                <a:latin typeface="Georgia"/>
                <a:ea typeface="微软雅黑"/>
                <a:cs typeface="微软雅黑"/>
              </a:rPr>
              <a:t>WUJIE AI · 实战案例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713232"/>
            <a:ext cx="1463040" cy="0"/>
          </a:xfrm>
          <a:prstGeom prst="line">
            <a:avLst/>
          </a:prstGeom>
          <a:ln w="1524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400" b="1">
                <a:latin typeface="Georgia"/>
                <a:ea typeface="微软雅黑"/>
                <a:cs typeface="微软雅黑"/>
                <a:gradFill>
                  <a:gsLst>
                    <a:gs pos="0">
                      <a:srgbClr val="B8956A"/>
                    </a:gs>
                    <a:gs pos="50000">
                      <a:srgbClr val="D4B896"/>
                    </a:gs>
                    <a:gs pos="100000">
                      <a:srgbClr val="9C7A4E"/>
                    </a:gs>
                  </a:gsLst>
                  <a:lin ang="0" scaled="1"/>
                </a:gradFill>
              </a:rPr>
              <a:t>6 个实战项目 · 数据验证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1097280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666666"/>
                </a:solidFill>
                <a:latin typeface="Arial"/>
                <a:ea typeface="微软雅黑"/>
                <a:cs typeface="微软雅黑"/>
              </a:rPr>
              <a:t>每一项都跑通真实业务闭环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03120"/>
            <a:ext cx="3593592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4B896"/>
            </a:solidFill>
          </a:ln>
          <a:effectLst>
            <a:outerShdw blurRad="60000" dist="20000" dir="5400000" rotWithShape="0">
              <a:srgbClr val="1A1A1F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240279"/>
            <a:ext cx="137160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9C7A4E"/>
                </a:solidFill>
                <a:latin typeface="Consolas"/>
                <a:ea typeface="微软雅黑"/>
                <a:cs typeface="微软雅黑"/>
              </a:rPr>
              <a:t>PRJ-02-B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2651760"/>
            <a:ext cx="3136392" cy="0"/>
          </a:xfrm>
          <a:prstGeom prst="line">
            <a:avLst/>
          </a:prstGeom>
          <a:ln w="7620">
            <a:solidFill>
              <a:srgbClr val="D4B8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2743200"/>
            <a:ext cx="3136392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222222"/>
                </a:solidFill>
                <a:latin typeface="Georgia"/>
                <a:ea typeface="微软雅黑"/>
                <a:cs typeface="微软雅黑"/>
              </a:rPr>
              <a:t>AI 智能外呼获客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246120"/>
            <a:ext cx="3136392" cy="3200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9C7A4E"/>
                </a:solidFill>
                <a:latin typeface="Consolas"/>
                <a:ea typeface="微软雅黑"/>
                <a:cs typeface="微软雅黑"/>
              </a:rPr>
              <a:t>▸ 外呼效率 10×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547872"/>
            <a:ext cx="3136392" cy="3200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666666"/>
                </a:solidFill>
                <a:latin typeface="Arial"/>
                <a:ea typeface="微软雅黑"/>
                <a:cs typeface="微软雅黑"/>
              </a:rPr>
              <a:t>▸ 单获客成本 -65%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2103120"/>
            <a:ext cx="3593592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4B896"/>
            </a:solidFill>
          </a:ln>
          <a:effectLst>
            <a:outerShdw blurRad="60000" dist="20000" dir="5400000" rotWithShape="0">
              <a:srgbClr val="1A1A1F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2240279"/>
            <a:ext cx="137160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9C7A4E"/>
                </a:solidFill>
                <a:latin typeface="Consolas"/>
                <a:ea typeface="微软雅黑"/>
                <a:cs typeface="微软雅黑"/>
              </a:rPr>
              <a:t>PRJ-02-A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526280" y="2651760"/>
            <a:ext cx="3136392" cy="0"/>
          </a:xfrm>
          <a:prstGeom prst="line">
            <a:avLst/>
          </a:prstGeom>
          <a:ln w="7620">
            <a:solidFill>
              <a:srgbClr val="D4B8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4526280" y="2743200"/>
            <a:ext cx="3136392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222222"/>
                </a:solidFill>
                <a:latin typeface="Georgia"/>
                <a:ea typeface="微软雅黑"/>
                <a:cs typeface="微软雅黑"/>
              </a:rPr>
              <a:t>AI-GEO 系统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26280" y="3246120"/>
            <a:ext cx="3136392" cy="3200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9C7A4E"/>
                </a:solidFill>
                <a:latin typeface="Consolas"/>
                <a:ea typeface="微软雅黑"/>
                <a:cs typeface="微软雅黑"/>
              </a:rPr>
              <a:t>▸ AI 引擎曝光 +220%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80" y="3547872"/>
            <a:ext cx="3136392" cy="3200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666666"/>
                </a:solidFill>
                <a:latin typeface="Arial"/>
                <a:ea typeface="微软雅黑"/>
                <a:cs typeface="微软雅黑"/>
              </a:rPr>
              <a:t>▸ 覆盖 15+ AI 平台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20" y="2103120"/>
            <a:ext cx="3593592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4B896"/>
            </a:solidFill>
          </a:ln>
          <a:effectLst>
            <a:outerShdw blurRad="60000" dist="20000" dir="5400000" rotWithShape="0">
              <a:srgbClr val="1A1A1F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75320" y="2240279"/>
            <a:ext cx="137160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9C7A4E"/>
                </a:solidFill>
                <a:latin typeface="Consolas"/>
                <a:ea typeface="微软雅黑"/>
                <a:cs typeface="微软雅黑"/>
              </a:rPr>
              <a:t>PRJ-02-C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275320" y="2651760"/>
            <a:ext cx="3136392" cy="0"/>
          </a:xfrm>
          <a:prstGeom prst="line">
            <a:avLst/>
          </a:prstGeom>
          <a:ln w="7620">
            <a:solidFill>
              <a:srgbClr val="D4B8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8275320" y="2743200"/>
            <a:ext cx="3136392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222222"/>
                </a:solidFill>
                <a:latin typeface="Georgia"/>
                <a:ea typeface="微软雅黑"/>
                <a:cs typeface="微软雅黑"/>
              </a:rPr>
              <a:t>AI 内容营销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5320" y="3246120"/>
            <a:ext cx="3136392" cy="3200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9C7A4E"/>
                </a:solidFill>
                <a:latin typeface="Consolas"/>
                <a:ea typeface="微软雅黑"/>
                <a:cs typeface="微软雅黑"/>
              </a:rPr>
              <a:t>▸ 内容产出 +10 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20" y="3547872"/>
            <a:ext cx="3136392" cy="3200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666666"/>
                </a:solidFill>
                <a:latin typeface="Arial"/>
                <a:ea typeface="微软雅黑"/>
                <a:cs typeface="微软雅黑"/>
              </a:rPr>
              <a:t>▸ 单获客成本 -42%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069080"/>
            <a:ext cx="3593592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4B896"/>
            </a:solidFill>
          </a:ln>
          <a:effectLst>
            <a:outerShdw blurRad="60000" dist="20000" dir="5400000" rotWithShape="0">
              <a:srgbClr val="1A1A1F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4206240"/>
            <a:ext cx="137160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9C7A4E"/>
                </a:solidFill>
                <a:latin typeface="Consolas"/>
                <a:ea typeface="微软雅黑"/>
                <a:cs typeface="微软雅黑"/>
              </a:rPr>
              <a:t>PRJ-01-A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77240" y="4617720"/>
            <a:ext cx="3136392" cy="0"/>
          </a:xfrm>
          <a:prstGeom prst="line">
            <a:avLst/>
          </a:prstGeom>
          <a:ln w="7620">
            <a:solidFill>
              <a:srgbClr val="D4B8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777240" y="4709160"/>
            <a:ext cx="3136392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222222"/>
                </a:solidFill>
                <a:latin typeface="Georgia"/>
                <a:ea typeface="微软雅黑"/>
                <a:cs typeface="微软雅黑"/>
              </a:rPr>
              <a:t>AI-CRM 系统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5212080"/>
            <a:ext cx="3136392" cy="3200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9C7A4E"/>
                </a:solidFill>
                <a:latin typeface="Consolas"/>
                <a:ea typeface="微软雅黑"/>
                <a:cs typeface="微软雅黑"/>
              </a:rPr>
              <a:t>▸ 线索转化率 +38%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5513832"/>
            <a:ext cx="3136392" cy="3200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666666"/>
                </a:solidFill>
                <a:latin typeface="Arial"/>
                <a:ea typeface="微软雅黑"/>
                <a:cs typeface="微软雅黑"/>
              </a:rPr>
              <a:t>▸ 流失率 -45%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297680" y="4069080"/>
            <a:ext cx="3593592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4B896"/>
            </a:solidFill>
          </a:ln>
          <a:effectLst>
            <a:outerShdw blurRad="60000" dist="20000" dir="5400000" rotWithShape="0">
              <a:srgbClr val="1A1A1F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26280" y="4206240"/>
            <a:ext cx="137160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9C7A4E"/>
                </a:solidFill>
                <a:latin typeface="Consolas"/>
                <a:ea typeface="微软雅黑"/>
                <a:cs typeface="微软雅黑"/>
              </a:rPr>
              <a:t>PRJ-03-B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4526280" y="4617720"/>
            <a:ext cx="3136392" cy="0"/>
          </a:xfrm>
          <a:prstGeom prst="line">
            <a:avLst/>
          </a:prstGeom>
          <a:ln w="7620">
            <a:solidFill>
              <a:srgbClr val="D4B8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4526280" y="4709160"/>
            <a:ext cx="3136392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222222"/>
                </a:solidFill>
                <a:latin typeface="Georgia"/>
                <a:ea typeface="微软雅黑"/>
                <a:cs typeface="微软雅黑"/>
              </a:rPr>
              <a:t>AI-Agent 系统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26280" y="5212080"/>
            <a:ext cx="3136392" cy="3200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9C7A4E"/>
                </a:solidFill>
                <a:latin typeface="Consolas"/>
                <a:ea typeface="微软雅黑"/>
                <a:cs typeface="微软雅黑"/>
              </a:rPr>
              <a:t>▸ 12+ 智能体协同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26280" y="5513832"/>
            <a:ext cx="3136392" cy="3200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666666"/>
                </a:solidFill>
                <a:latin typeface="Arial"/>
                <a:ea typeface="微软雅黑"/>
                <a:cs typeface="微软雅黑"/>
              </a:rPr>
              <a:t>▸ 任务成功率 87%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046720" y="4069080"/>
            <a:ext cx="3593592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4B896"/>
            </a:solidFill>
          </a:ln>
          <a:effectLst>
            <a:outerShdw blurRad="60000" dist="20000" dir="5400000" rotWithShape="0">
              <a:srgbClr val="1A1A1F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75320" y="4206240"/>
            <a:ext cx="137160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9C7A4E"/>
                </a:solidFill>
                <a:latin typeface="Consolas"/>
                <a:ea typeface="微软雅黑"/>
                <a:cs typeface="微软雅黑"/>
              </a:rPr>
              <a:t>PRJ-04-A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8275320" y="4617720"/>
            <a:ext cx="3136392" cy="0"/>
          </a:xfrm>
          <a:prstGeom prst="line">
            <a:avLst/>
          </a:prstGeom>
          <a:ln w="7620">
            <a:solidFill>
              <a:srgbClr val="D4B8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8275320" y="4709160"/>
            <a:ext cx="3136392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222222"/>
                </a:solidFill>
                <a:latin typeface="Georgia"/>
                <a:ea typeface="微软雅黑"/>
                <a:cs typeface="微软雅黑"/>
              </a:rPr>
              <a:t>多语言营销引擎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75320" y="5212080"/>
            <a:ext cx="3136392" cy="3200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9C7A4E"/>
                </a:solidFill>
                <a:latin typeface="Consolas"/>
                <a:ea typeface="微软雅黑"/>
                <a:cs typeface="微软雅黑"/>
              </a:rPr>
              <a:t>▸ 30+ 语种本地化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75320" y="5513832"/>
            <a:ext cx="3136392" cy="3200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666666"/>
                </a:solidFill>
                <a:latin typeface="Arial"/>
                <a:ea typeface="微软雅黑"/>
                <a:cs typeface="微软雅黑"/>
              </a:rPr>
              <a:t>▸ ROAS 3.8 · CTR +45%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7620">
            <a:solidFill>
              <a:srgbClr val="9C7A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666666"/>
                </a:solidFill>
                <a:latin typeface="Georgia"/>
                <a:ea typeface="微软雅黑"/>
                <a:cs typeface="微软雅黑"/>
              </a:rPr>
              <a:t>WUJIE AI · INTELLIGENCE ENGINEERED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92640" y="6492240"/>
            <a:ext cx="1947672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666666"/>
                </a:solidFill>
                <a:latin typeface="Consolas"/>
                <a:ea typeface="微软雅黑"/>
                <a:cs typeface="微软雅黑"/>
              </a:rPr>
              <a:t>11 / 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9C7A4E"/>
                </a:solidFill>
                <a:latin typeface="Georgia"/>
                <a:ea typeface="微软雅黑"/>
                <a:cs typeface="微软雅黑"/>
              </a:rPr>
              <a:t>WUJIE AI · 落地计划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713232"/>
            <a:ext cx="1463040" cy="0"/>
          </a:xfrm>
          <a:prstGeom prst="line">
            <a:avLst/>
          </a:prstGeom>
          <a:ln w="1524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400" b="1">
                <a:latin typeface="Georgia"/>
                <a:ea typeface="微软雅黑"/>
                <a:cs typeface="微软雅黑"/>
                <a:gradFill>
                  <a:gsLst>
                    <a:gs pos="0">
                      <a:srgbClr val="B8956A"/>
                    </a:gs>
                    <a:gs pos="50000">
                      <a:srgbClr val="D4B896"/>
                    </a:gs>
                    <a:gs pos="100000">
                      <a:srgbClr val="9C7A4E"/>
                    </a:gs>
                  </a:gsLst>
                  <a:lin ang="0" scaled="1"/>
                </a:gradFill>
              </a:rPr>
              <a:t>90 天落地计划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1097280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666666"/>
                </a:solidFill>
                <a:latin typeface="Arial"/>
                <a:ea typeface="微软雅黑"/>
                <a:cs typeface="微软雅黑"/>
              </a:rPr>
              <a:t>诊断 → 试点 → 扩展 → 优化 · 四阶段推进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63727" y="2926080"/>
            <a:ext cx="11064240" cy="0"/>
          </a:xfrm>
          <a:prstGeom prst="line">
            <a:avLst/>
          </a:prstGeom>
          <a:ln w="1270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821027" y="2834640"/>
            <a:ext cx="182880" cy="182880"/>
          </a:xfrm>
          <a:prstGeom prst="ellipse">
            <a:avLst/>
          </a:prstGeom>
          <a:solidFill>
            <a:srgbClr val="B8956A"/>
          </a:solidFill>
          <a:ln w="19050">
            <a:solidFill>
              <a:srgbClr val="F7F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63727" y="3200400"/>
            <a:ext cx="2697480" cy="2468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4B896"/>
            </a:solidFill>
          </a:ln>
          <a:effectLst>
            <a:outerShdw blurRad="60000" dist="20000" dir="5400000" rotWithShape="0">
              <a:srgbClr val="1A1A1F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6607" y="3337560"/>
            <a:ext cx="2331720" cy="3200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>
                <a:solidFill>
                  <a:srgbClr val="9C7A4E"/>
                </a:solidFill>
                <a:latin typeface="Georgia"/>
                <a:ea typeface="微软雅黑"/>
                <a:cs typeface="微软雅黑"/>
              </a:rPr>
              <a:t>Phase 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6607" y="3657600"/>
            <a:ext cx="233172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222222"/>
                </a:solidFill>
                <a:latin typeface="Consolas"/>
                <a:ea typeface="微软雅黑"/>
                <a:cs typeface="微软雅黑"/>
              </a:rPr>
              <a:t>Day 1 - 15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6607" y="4023360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latin typeface="Georgia"/>
                <a:ea typeface="微软雅黑"/>
                <a:cs typeface="微软雅黑"/>
                <a:gradFill>
                  <a:gsLst>
                    <a:gs pos="0">
                      <a:srgbClr val="B8956A"/>
                    </a:gs>
                    <a:gs pos="50000">
                      <a:srgbClr val="D4B896"/>
                    </a:gs>
                    <a:gs pos="100000">
                      <a:srgbClr val="9C7A4E"/>
                    </a:gs>
                  </a:gsLst>
                  <a:lin ang="0" scaled="1"/>
                </a:gradFill>
              </a:rPr>
              <a:t>诊断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46607" y="4572000"/>
            <a:ext cx="2331720" cy="0"/>
          </a:xfrm>
          <a:prstGeom prst="line">
            <a:avLst/>
          </a:prstGeom>
          <a:ln w="7620">
            <a:solidFill>
              <a:srgbClr val="D4B8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46607" y="4663440"/>
            <a:ext cx="2331720" cy="914400"/>
          </a:xfrm>
          <a:prstGeom prst="rect">
            <a:avLst/>
          </a:prstGeom>
          <a:noFill/>
        </p:spPr>
        <p:txBody>
          <a:bodyPr wrap="square" lIns="50800" rIns="50800" tIns="50800" bIns="50800" anchor="t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100" b="1">
                <a:solidFill>
                  <a:srgbClr val="B8956A"/>
                </a:solidFill>
                <a:latin typeface="Consolas"/>
                <a:ea typeface="微软雅黑"/>
                <a:cs typeface="微软雅黑"/>
              </a:rPr>
              <a:t>▸ </a:t>
            </a:r>
            <a:r>
              <a:rPr sz="1100" b="0">
                <a:solidFill>
                  <a:srgbClr val="222222"/>
                </a:solidFill>
                <a:latin typeface="Arial"/>
                <a:ea typeface="微软雅黑"/>
                <a:cs typeface="微软雅黑"/>
              </a:rPr>
              <a:t>业务审计 + KPI 定义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100" b="1">
                <a:solidFill>
                  <a:srgbClr val="B8956A"/>
                </a:solidFill>
                <a:latin typeface="Consolas"/>
                <a:ea typeface="微软雅黑"/>
                <a:cs typeface="微软雅黑"/>
              </a:rPr>
              <a:t>▸ </a:t>
            </a:r>
            <a:r>
              <a:rPr sz="1100" b="0">
                <a:solidFill>
                  <a:srgbClr val="222222"/>
                </a:solidFill>
                <a:latin typeface="Arial"/>
                <a:ea typeface="微软雅黑"/>
                <a:cs typeface="微软雅黑"/>
              </a:rPr>
              <a:t>数据基础设施评估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100" b="1">
                <a:solidFill>
                  <a:srgbClr val="B8956A"/>
                </a:solidFill>
                <a:latin typeface="Consolas"/>
                <a:ea typeface="微软雅黑"/>
                <a:cs typeface="微软雅黑"/>
              </a:rPr>
              <a:t>▸ </a:t>
            </a:r>
            <a:r>
              <a:rPr sz="1100" b="0">
                <a:solidFill>
                  <a:srgbClr val="222222"/>
                </a:solidFill>
                <a:latin typeface="Arial"/>
                <a:ea typeface="微软雅黑"/>
                <a:cs typeface="微软雅黑"/>
              </a:rPr>
              <a:t>痛点场景排序</a:t>
            </a:r>
          </a:p>
        </p:txBody>
      </p:sp>
      <p:sp>
        <p:nvSpPr>
          <p:cNvPr id="14" name="Oval 13"/>
          <p:cNvSpPr/>
          <p:nvPr/>
        </p:nvSpPr>
        <p:spPr>
          <a:xfrm>
            <a:off x="4609947" y="2834640"/>
            <a:ext cx="182880" cy="182880"/>
          </a:xfrm>
          <a:prstGeom prst="ellipse">
            <a:avLst/>
          </a:prstGeom>
          <a:solidFill>
            <a:srgbClr val="B8956A"/>
          </a:solidFill>
          <a:ln w="19050">
            <a:solidFill>
              <a:srgbClr val="F7F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352647" y="3200400"/>
            <a:ext cx="2697480" cy="2468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4B896"/>
            </a:solidFill>
          </a:ln>
          <a:effectLst>
            <a:outerShdw blurRad="60000" dist="20000" dir="5400000" rotWithShape="0">
              <a:srgbClr val="1A1A1F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5527" y="3337560"/>
            <a:ext cx="2331720" cy="3200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>
                <a:solidFill>
                  <a:srgbClr val="9C7A4E"/>
                </a:solidFill>
                <a:latin typeface="Georgia"/>
                <a:ea typeface="微软雅黑"/>
                <a:cs typeface="微软雅黑"/>
              </a:rPr>
              <a:t>Phase 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35527" y="3657600"/>
            <a:ext cx="233172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222222"/>
                </a:solidFill>
                <a:latin typeface="Consolas"/>
                <a:ea typeface="微软雅黑"/>
                <a:cs typeface="微软雅黑"/>
              </a:rPr>
              <a:t>Day 16 - 45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35527" y="4023360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latin typeface="Georgia"/>
                <a:ea typeface="微软雅黑"/>
                <a:cs typeface="微软雅黑"/>
                <a:gradFill>
                  <a:gsLst>
                    <a:gs pos="0">
                      <a:srgbClr val="B8956A"/>
                    </a:gs>
                    <a:gs pos="50000">
                      <a:srgbClr val="D4B896"/>
                    </a:gs>
                    <a:gs pos="100000">
                      <a:srgbClr val="9C7A4E"/>
                    </a:gs>
                  </a:gsLst>
                  <a:lin ang="0" scaled="1"/>
                </a:gradFill>
              </a:rPr>
              <a:t>试点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535527" y="4572000"/>
            <a:ext cx="2331720" cy="0"/>
          </a:xfrm>
          <a:prstGeom prst="line">
            <a:avLst/>
          </a:prstGeom>
          <a:ln w="7620">
            <a:solidFill>
              <a:srgbClr val="D4B8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3535527" y="4663440"/>
            <a:ext cx="2331720" cy="914400"/>
          </a:xfrm>
          <a:prstGeom prst="rect">
            <a:avLst/>
          </a:prstGeom>
          <a:noFill/>
        </p:spPr>
        <p:txBody>
          <a:bodyPr wrap="square" lIns="50800" rIns="50800" tIns="50800" bIns="50800" anchor="t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100" b="1">
                <a:solidFill>
                  <a:srgbClr val="B8956A"/>
                </a:solidFill>
                <a:latin typeface="Consolas"/>
                <a:ea typeface="微软雅黑"/>
                <a:cs typeface="微软雅黑"/>
              </a:rPr>
              <a:t>▸ </a:t>
            </a:r>
            <a:r>
              <a:rPr sz="1100" b="0">
                <a:solidFill>
                  <a:srgbClr val="222222"/>
                </a:solidFill>
                <a:latin typeface="Arial"/>
                <a:ea typeface="微软雅黑"/>
                <a:cs typeface="微软雅黑"/>
              </a:rPr>
              <a:t>GEO 系统上线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100" b="1">
                <a:solidFill>
                  <a:srgbClr val="B8956A"/>
                </a:solidFill>
                <a:latin typeface="Consolas"/>
                <a:ea typeface="微软雅黑"/>
                <a:cs typeface="微软雅黑"/>
              </a:rPr>
              <a:t>▸ </a:t>
            </a:r>
            <a:r>
              <a:rPr sz="1100" b="0">
                <a:solidFill>
                  <a:srgbClr val="222222"/>
                </a:solidFill>
                <a:latin typeface="Arial"/>
                <a:ea typeface="微软雅黑"/>
                <a:cs typeface="微软雅黑"/>
              </a:rPr>
              <a:t>AI 外呼 MVP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100" b="1">
                <a:solidFill>
                  <a:srgbClr val="B8956A"/>
                </a:solidFill>
                <a:latin typeface="Consolas"/>
                <a:ea typeface="微软雅黑"/>
                <a:cs typeface="微软雅黑"/>
              </a:rPr>
              <a:t>▸ </a:t>
            </a:r>
            <a:r>
              <a:rPr sz="1100" b="0">
                <a:solidFill>
                  <a:srgbClr val="222222"/>
                </a:solidFill>
                <a:latin typeface="Arial"/>
                <a:ea typeface="微软雅黑"/>
                <a:cs typeface="微软雅黑"/>
              </a:rPr>
              <a:t>内容工厂 MVP</a:t>
            </a:r>
          </a:p>
        </p:txBody>
      </p:sp>
      <p:sp>
        <p:nvSpPr>
          <p:cNvPr id="21" name="Oval 20"/>
          <p:cNvSpPr/>
          <p:nvPr/>
        </p:nvSpPr>
        <p:spPr>
          <a:xfrm>
            <a:off x="7398867" y="2834640"/>
            <a:ext cx="182880" cy="182880"/>
          </a:xfrm>
          <a:prstGeom prst="ellipse">
            <a:avLst/>
          </a:prstGeom>
          <a:solidFill>
            <a:srgbClr val="B8956A"/>
          </a:solidFill>
          <a:ln w="19050">
            <a:solidFill>
              <a:srgbClr val="F7F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141567" y="3200400"/>
            <a:ext cx="2697480" cy="2468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4B896"/>
            </a:solidFill>
          </a:ln>
          <a:effectLst>
            <a:outerShdw blurRad="60000" dist="20000" dir="5400000" rotWithShape="0">
              <a:srgbClr val="1A1A1F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24447" y="3337560"/>
            <a:ext cx="2331720" cy="3200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>
                <a:solidFill>
                  <a:srgbClr val="9C7A4E"/>
                </a:solidFill>
                <a:latin typeface="Georgia"/>
                <a:ea typeface="微软雅黑"/>
                <a:cs typeface="微软雅黑"/>
              </a:rPr>
              <a:t>Phase 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24447" y="3657600"/>
            <a:ext cx="233172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222222"/>
                </a:solidFill>
                <a:latin typeface="Consolas"/>
                <a:ea typeface="微软雅黑"/>
                <a:cs typeface="微软雅黑"/>
              </a:rPr>
              <a:t>Day 46 - 75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24447" y="4023360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latin typeface="Georgia"/>
                <a:ea typeface="微软雅黑"/>
                <a:cs typeface="微软雅黑"/>
                <a:gradFill>
                  <a:gsLst>
                    <a:gs pos="0">
                      <a:srgbClr val="B8956A"/>
                    </a:gs>
                    <a:gs pos="50000">
                      <a:srgbClr val="D4B896"/>
                    </a:gs>
                    <a:gs pos="100000">
                      <a:srgbClr val="9C7A4E"/>
                    </a:gs>
                  </a:gsLst>
                  <a:lin ang="0" scaled="1"/>
                </a:gradFill>
              </a:rPr>
              <a:t>扩展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324447" y="4572000"/>
            <a:ext cx="2331720" cy="0"/>
          </a:xfrm>
          <a:prstGeom prst="line">
            <a:avLst/>
          </a:prstGeom>
          <a:ln w="7620">
            <a:solidFill>
              <a:srgbClr val="D4B8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324447" y="4663440"/>
            <a:ext cx="2331720" cy="914400"/>
          </a:xfrm>
          <a:prstGeom prst="rect">
            <a:avLst/>
          </a:prstGeom>
          <a:noFill/>
        </p:spPr>
        <p:txBody>
          <a:bodyPr wrap="square" lIns="50800" rIns="50800" tIns="50800" bIns="50800" anchor="t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100" b="1">
                <a:solidFill>
                  <a:srgbClr val="B8956A"/>
                </a:solidFill>
                <a:latin typeface="Consolas"/>
                <a:ea typeface="微软雅黑"/>
                <a:cs typeface="微软雅黑"/>
              </a:rPr>
              <a:t>▸ </a:t>
            </a:r>
            <a:r>
              <a:rPr sz="1100" b="0">
                <a:solidFill>
                  <a:srgbClr val="222222"/>
                </a:solidFill>
                <a:latin typeface="Arial"/>
                <a:ea typeface="微软雅黑"/>
                <a:cs typeface="微软雅黑"/>
              </a:rPr>
              <a:t>数字人直播部署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100" b="1">
                <a:solidFill>
                  <a:srgbClr val="B8956A"/>
                </a:solidFill>
                <a:latin typeface="Consolas"/>
                <a:ea typeface="微软雅黑"/>
                <a:cs typeface="微软雅黑"/>
              </a:rPr>
              <a:t>▸ </a:t>
            </a:r>
            <a:r>
              <a:rPr sz="1100" b="0">
                <a:solidFill>
                  <a:srgbClr val="222222"/>
                </a:solidFill>
                <a:latin typeface="Arial"/>
                <a:ea typeface="微软雅黑"/>
                <a:cs typeface="微软雅黑"/>
              </a:rPr>
              <a:t>CDP 数据中台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100" b="1">
                <a:solidFill>
                  <a:srgbClr val="B8956A"/>
                </a:solidFill>
                <a:latin typeface="Consolas"/>
                <a:ea typeface="微软雅黑"/>
                <a:cs typeface="微软雅黑"/>
              </a:rPr>
              <a:t>▸ </a:t>
            </a:r>
            <a:r>
              <a:rPr sz="1100" b="0">
                <a:solidFill>
                  <a:srgbClr val="222222"/>
                </a:solidFill>
                <a:latin typeface="Arial"/>
                <a:ea typeface="微软雅黑"/>
                <a:cs typeface="微软雅黑"/>
              </a:rPr>
              <a:t>归因系统接入</a:t>
            </a:r>
          </a:p>
        </p:txBody>
      </p:sp>
      <p:sp>
        <p:nvSpPr>
          <p:cNvPr id="28" name="Oval 27"/>
          <p:cNvSpPr/>
          <p:nvPr/>
        </p:nvSpPr>
        <p:spPr>
          <a:xfrm>
            <a:off x="10187787" y="2834640"/>
            <a:ext cx="182880" cy="182880"/>
          </a:xfrm>
          <a:prstGeom prst="ellipse">
            <a:avLst/>
          </a:prstGeom>
          <a:solidFill>
            <a:srgbClr val="B8956A"/>
          </a:solidFill>
          <a:ln w="19050">
            <a:solidFill>
              <a:srgbClr val="F7F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930487" y="3200400"/>
            <a:ext cx="2697480" cy="2468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4B896"/>
            </a:solidFill>
          </a:ln>
          <a:effectLst>
            <a:outerShdw blurRad="60000" dist="20000" dir="5400000" rotWithShape="0">
              <a:srgbClr val="1A1A1F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13367" y="3337560"/>
            <a:ext cx="2331720" cy="3200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>
                <a:solidFill>
                  <a:srgbClr val="9C7A4E"/>
                </a:solidFill>
                <a:latin typeface="Georgia"/>
                <a:ea typeface="微软雅黑"/>
                <a:cs typeface="微软雅黑"/>
              </a:rPr>
              <a:t>Phase 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13367" y="3657600"/>
            <a:ext cx="233172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222222"/>
                </a:solidFill>
                <a:latin typeface="Consolas"/>
                <a:ea typeface="微软雅黑"/>
                <a:cs typeface="微软雅黑"/>
              </a:rPr>
              <a:t>Day 76 - 90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13367" y="4023360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latin typeface="Georgia"/>
                <a:ea typeface="微软雅黑"/>
                <a:cs typeface="微软雅黑"/>
                <a:gradFill>
                  <a:gsLst>
                    <a:gs pos="0">
                      <a:srgbClr val="B8956A"/>
                    </a:gs>
                    <a:gs pos="50000">
                      <a:srgbClr val="D4B896"/>
                    </a:gs>
                    <a:gs pos="100000">
                      <a:srgbClr val="9C7A4E"/>
                    </a:gs>
                  </a:gsLst>
                  <a:lin ang="0" scaled="1"/>
                </a:gradFill>
              </a:rPr>
              <a:t>优化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113367" y="4572000"/>
            <a:ext cx="2331720" cy="0"/>
          </a:xfrm>
          <a:prstGeom prst="line">
            <a:avLst/>
          </a:prstGeom>
          <a:ln w="7620">
            <a:solidFill>
              <a:srgbClr val="D4B8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9113367" y="4663440"/>
            <a:ext cx="2331720" cy="914400"/>
          </a:xfrm>
          <a:prstGeom prst="rect">
            <a:avLst/>
          </a:prstGeom>
          <a:noFill/>
        </p:spPr>
        <p:txBody>
          <a:bodyPr wrap="square" lIns="50800" rIns="50800" tIns="50800" bIns="50800" anchor="t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100" b="1">
                <a:solidFill>
                  <a:srgbClr val="B8956A"/>
                </a:solidFill>
                <a:latin typeface="Consolas"/>
                <a:ea typeface="微软雅黑"/>
                <a:cs typeface="微软雅黑"/>
              </a:rPr>
              <a:t>▸ </a:t>
            </a:r>
            <a:r>
              <a:rPr sz="1100" b="0">
                <a:solidFill>
                  <a:srgbClr val="222222"/>
                </a:solidFill>
                <a:latin typeface="Arial"/>
                <a:ea typeface="微软雅黑"/>
                <a:cs typeface="微软雅黑"/>
              </a:rPr>
              <a:t>多臂老虎机择优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100" b="1">
                <a:solidFill>
                  <a:srgbClr val="B8956A"/>
                </a:solidFill>
                <a:latin typeface="Consolas"/>
                <a:ea typeface="微软雅黑"/>
                <a:cs typeface="微软雅黑"/>
              </a:rPr>
              <a:t>▸ </a:t>
            </a:r>
            <a:r>
              <a:rPr sz="1100" b="0">
                <a:solidFill>
                  <a:srgbClr val="222222"/>
                </a:solidFill>
                <a:latin typeface="Arial"/>
                <a:ea typeface="微软雅黑"/>
                <a:cs typeface="微软雅黑"/>
              </a:rPr>
              <a:t>MMM 闭环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100" b="1">
                <a:solidFill>
                  <a:srgbClr val="B8956A"/>
                </a:solidFill>
                <a:latin typeface="Consolas"/>
                <a:ea typeface="微软雅黑"/>
                <a:cs typeface="微软雅黑"/>
              </a:rPr>
              <a:t>▸ </a:t>
            </a:r>
            <a:r>
              <a:rPr sz="1100" b="0">
                <a:solidFill>
                  <a:srgbClr val="222222"/>
                </a:solidFill>
                <a:latin typeface="Arial"/>
                <a:ea typeface="微软雅黑"/>
                <a:cs typeface="微软雅黑"/>
              </a:rPr>
              <a:t>规模化复制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5897880"/>
            <a:ext cx="11091672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9C7A4E"/>
                </a:solidFill>
                <a:latin typeface="Georgia"/>
                <a:ea typeface="微软雅黑"/>
                <a:cs typeface="微软雅黑"/>
              </a:rPr>
              <a:t>里程碑：90 天完成"获客 - 转化 - 归因"闭环跑通，可量化 ROI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7620">
            <a:solidFill>
              <a:srgbClr val="9C7A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666666"/>
                </a:solidFill>
                <a:latin typeface="Georgia"/>
                <a:ea typeface="微软雅黑"/>
                <a:cs typeface="微软雅黑"/>
              </a:rPr>
              <a:t>WUJIE AI · INTELLIGENCE ENGINEERED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92640" y="6492240"/>
            <a:ext cx="1947672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666666"/>
                </a:solidFill>
                <a:latin typeface="Consolas"/>
                <a:ea typeface="微软雅黑"/>
                <a:cs typeface="微软雅黑"/>
              </a:rPr>
              <a:t>12 / 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731520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D4B896"/>
                </a:solidFill>
                <a:latin typeface="Georgia"/>
                <a:ea typeface="微软雅黑"/>
                <a:cs typeface="微软雅黑"/>
              </a:rPr>
              <a:t>WUJIE AI · CONTACT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822960" y="1280160"/>
            <a:ext cx="1463040" cy="0"/>
          </a:xfrm>
          <a:prstGeom prst="line">
            <a:avLst/>
          </a:prstGeom>
          <a:ln w="1524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210312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200" b="1">
                <a:latin typeface="Georgia"/>
                <a:ea typeface="微软雅黑"/>
                <a:cs typeface="微软雅黑"/>
                <a:gradFill>
                  <a:gsLst>
                    <a:gs pos="0">
                      <a:srgbClr val="B8956A"/>
                    </a:gs>
                    <a:gs pos="50000">
                      <a:srgbClr val="D4B896"/>
                    </a:gs>
                    <a:gs pos="100000">
                      <a:srgbClr val="9C7A4E"/>
                    </a:gs>
                  </a:gsLst>
                  <a:lin ang="0" scaled="1"/>
                </a:gradFill>
              </a:rPr>
              <a:t>一起把 AI 变成生产力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00400"/>
            <a:ext cx="1005840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AAAAAA"/>
                </a:solidFill>
                <a:latin typeface="Georgia"/>
                <a:ea typeface="微软雅黑"/>
                <a:cs typeface="微软雅黑"/>
              </a:rPr>
              <a:t>Engineering Intelligence into Real ROI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22960" y="3931920"/>
            <a:ext cx="10515600" cy="0"/>
          </a:xfrm>
          <a:prstGeom prst="line">
            <a:avLst/>
          </a:prstGeom>
          <a:ln w="1524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22960" y="4160520"/>
            <a:ext cx="502920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B8956A"/>
                </a:solidFill>
                <a:latin typeface="Georgia"/>
                <a:ea typeface="微软雅黑"/>
                <a:cs typeface="微软雅黑"/>
              </a:rPr>
              <a:t>无界智源 · Wujie 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572000"/>
            <a:ext cx="502920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让智能，工程化落地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983480"/>
            <a:ext cx="502920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AAAAAA"/>
                </a:solidFill>
                <a:latin typeface="Consolas"/>
                <a:ea typeface="微软雅黑"/>
                <a:cs typeface="微软雅黑"/>
              </a:rPr>
              <a:t>20+ 模型 · 13 项目 · 4 大行业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4160520"/>
            <a:ext cx="475488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B8956A"/>
                </a:solidFill>
                <a:latin typeface="Georgia"/>
                <a:ea typeface="微软雅黑"/>
                <a:cs typeface="微软雅黑"/>
              </a:rPr>
              <a:t>吴杰 · AI 工程师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4572000"/>
            <a:ext cx="475488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AAAAAA"/>
                </a:solidFill>
                <a:latin typeface="Arial"/>
                <a:ea typeface="微软雅黑"/>
                <a:cs typeface="微软雅黑"/>
              </a:rPr>
              <a:t>电话  </a:t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Consolas"/>
                <a:ea typeface="微软雅黑"/>
                <a:cs typeface="微软雅黑"/>
              </a:rPr>
              <a:t>13798699236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4892040"/>
            <a:ext cx="475488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AAAAAA"/>
                </a:solidFill>
                <a:latin typeface="Arial"/>
                <a:ea typeface="微软雅黑"/>
                <a:cs typeface="微软雅黑"/>
              </a:rPr>
              <a:t>微信  </a:t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Consolas"/>
                <a:ea typeface="微软雅黑"/>
                <a:cs typeface="微软雅黑"/>
              </a:rPr>
              <a:t>Hdoudoucity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5212080"/>
            <a:ext cx="475488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AAAAAA"/>
                </a:solidFill>
                <a:latin typeface="Arial"/>
                <a:ea typeface="微软雅黑"/>
                <a:cs typeface="微软雅黑"/>
              </a:rPr>
              <a:t>邮箱  </a:t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Consolas"/>
                <a:ea typeface="微软雅黑"/>
                <a:cs typeface="微软雅黑"/>
              </a:rPr>
              <a:t>1277454461@QQ.COM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5532120"/>
            <a:ext cx="475488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AAAAAA"/>
                </a:solidFill>
                <a:latin typeface="Arial"/>
                <a:ea typeface="微软雅黑"/>
                <a:cs typeface="微软雅黑"/>
              </a:rPr>
              <a:t>官网  </a:t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Consolas"/>
                <a:ea typeface="微软雅黑"/>
                <a:cs typeface="微软雅黑"/>
              </a:rPr>
              <a:t>43965555.github.io/wujie-ai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6263640"/>
            <a:ext cx="10515600" cy="0"/>
          </a:xfrm>
          <a:prstGeom prst="line">
            <a:avLst/>
          </a:prstGeom>
          <a:ln w="1524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822960" y="6355080"/>
            <a:ext cx="548640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D4B896"/>
                </a:solidFill>
                <a:latin typeface="Georgia"/>
                <a:ea typeface="微软雅黑"/>
                <a:cs typeface="微软雅黑"/>
              </a:rPr>
              <a:t>WUJIE AI ·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52560" y="6355080"/>
            <a:ext cx="228600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1000" b="0">
                <a:solidFill>
                  <a:srgbClr val="AAAAAA"/>
                </a:solidFill>
                <a:latin typeface="Consolas"/>
                <a:ea typeface="微软雅黑"/>
                <a:cs typeface="微软雅黑"/>
              </a:rPr>
              <a:t>13 /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